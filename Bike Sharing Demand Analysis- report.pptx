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74" r:id="rId6"/>
    <p:sldId id="261" r:id="rId7"/>
    <p:sldId id="260" r:id="rId8"/>
    <p:sldId id="273" r:id="rId9"/>
    <p:sldId id="262" r:id="rId10"/>
    <p:sldId id="263" r:id="rId11"/>
    <p:sldId id="275" r:id="rId12"/>
    <p:sldId id="264" r:id="rId13"/>
    <p:sldId id="265" r:id="rId14"/>
    <p:sldId id="266" r:id="rId15"/>
    <p:sldId id="267" r:id="rId16"/>
    <p:sldId id="268" r:id="rId17"/>
    <p:sldId id="269" r:id="rId18"/>
    <p:sldId id="270" r:id="rId19"/>
    <p:sldId id="272" r:id="rId20"/>
    <p:sldId id="271"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7" d="100"/>
          <a:sy n="87" d="100"/>
        </p:scale>
        <p:origin x="528"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HP\OneDrive\Desktop\Internship-Nexthikes\dataset_1-%20internship.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HP\OneDrive\Desktop\Internship-Nexthikes\dataset_1-%20internship.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HP\OneDrive\Desktop\Internship-Nexthikes\dataset_2-%20internship.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HP\OneDrive\Desktop\Internship-Nexthikes\dataset_2-%20internship.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HP\OneDrive\Desktop\Internship-Nexthikes\dataset_3-internship.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HP\OneDrive\Desktop\Internship-Nexthikes\dataset_3-internship.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HP\OneDrive\Desktop\Internship-Nexthikes\final%20set%20(FINAL).xlsx"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[dataset_1- internship.xlsx]weather vs hr!PivotTable1</c:name>
    <c:fmtId val="3"/>
  </c:pivotSource>
  <c:chart>
    <c:title>
      <c:tx>
        <c:rich>
          <a:bodyPr rot="0" spcFirstLastPara="1" vertOverflow="ellipsis" vert="horz" wrap="square" anchor="ctr" anchorCtr="1"/>
          <a:lstStyle/>
          <a:p>
            <a:pPr>
              <a:defRPr sz="1600" b="1" i="0" u="none" strike="noStrike" kern="1200" baseline="0">
                <a:solidFill>
                  <a:schemeClr val="tx2"/>
                </a:solidFill>
                <a:latin typeface="+mn-lt"/>
                <a:ea typeface="+mn-ea"/>
                <a:cs typeface="+mn-cs"/>
              </a:defRPr>
            </a:pPr>
            <a:r>
              <a:rPr lang="en-US"/>
              <a:t>Weather condition by Total Hours</a:t>
            </a:r>
          </a:p>
        </c:rich>
      </c:tx>
      <c:layout/>
      <c:overlay val="0"/>
      <c:spPr>
        <a:noFill/>
        <a:ln>
          <a:noFill/>
        </a:ln>
        <a:effectLst/>
      </c:spPr>
      <c:txPr>
        <a:bodyPr rot="0" spcFirstLastPara="1" vertOverflow="ellipsis" vert="horz" wrap="square" anchor="ctr" anchorCtr="1"/>
        <a:lstStyle/>
        <a:p>
          <a:pPr>
            <a:defRPr sz="1600" b="1" i="0" u="none" strike="noStrike" kern="1200" baseline="0">
              <a:solidFill>
                <a:schemeClr val="tx2"/>
              </a:solidFill>
              <a:latin typeface="+mn-lt"/>
              <a:ea typeface="+mn-ea"/>
              <a:cs typeface="+mn-cs"/>
            </a:defRPr>
          </a:pPr>
          <a:endParaRPr lang="en-US"/>
        </a:p>
      </c:txPr>
    </c:title>
    <c:autoTitleDeleted val="0"/>
    <c:pivotFmts>
      <c:pivotFmt>
        <c:idx val="0"/>
      </c:pivotFmt>
      <c:pivotFmt>
        <c:idx val="1"/>
        <c:dLbl>
          <c:idx val="0"/>
          <c:dLblPos val="bestFit"/>
          <c:showLegendKey val="0"/>
          <c:showVal val="1"/>
          <c:showCatName val="0"/>
          <c:showSerName val="0"/>
          <c:showPercent val="0"/>
          <c:showBubbleSize val="0"/>
          <c:extLst>
            <c:ext xmlns:c15="http://schemas.microsoft.com/office/drawing/2012/chart" uri="{CE6537A1-D6FC-4f65-9D91-7224C49458BB}"/>
          </c:extLst>
        </c:dLbl>
      </c:pivotFmt>
      <c:pivotFmt>
        <c:idx val="2"/>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2"/>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3"/>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4"/>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5"/>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6"/>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7"/>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8"/>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9"/>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2"/>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1"/>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2"/>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3"/>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4"/>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2"/>
                  </a:solidFill>
                  <a:latin typeface="+mn-lt"/>
                  <a:ea typeface="+mn-ea"/>
                  <a:cs typeface="+mn-cs"/>
                </a:defRPr>
              </a:pPr>
              <a:endParaRPr lang="en-US"/>
            </a:p>
          </c:txPr>
          <c:dLblPos val="bestFit"/>
          <c:showLegendKey val="0"/>
          <c:showVal val="1"/>
          <c:showCatName val="0"/>
          <c:showSerName val="0"/>
          <c:showPercent val="0"/>
          <c:showBubbleSize val="0"/>
          <c:extLst>
            <c:ext xmlns:c15="http://schemas.microsoft.com/office/drawing/2012/chart" uri="{CE6537A1-D6FC-4f65-9D91-7224C49458BB}"/>
          </c:extLst>
        </c:dLbl>
      </c:pivotFmt>
      <c:pivotFmt>
        <c:idx val="15"/>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6"/>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7"/>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
        <c:idx val="18"/>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pivotFmt>
    </c:pivotFmts>
    <c:plotArea>
      <c:layout/>
      <c:pieChart>
        <c:varyColors val="1"/>
        <c:ser>
          <c:idx val="0"/>
          <c:order val="0"/>
          <c:tx>
            <c:strRef>
              <c:f>'weather vs hr'!$B$3</c:f>
              <c:strCache>
                <c:ptCount val="1"/>
                <c:pt idx="0">
                  <c:v>Total</c:v>
                </c:pt>
              </c:strCache>
            </c:strRef>
          </c:tx>
          <c:dPt>
            <c:idx val="0"/>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c:spPr>
            <c:extLst>
              <c:ext xmlns:c16="http://schemas.microsoft.com/office/drawing/2014/chart" uri="{C3380CC4-5D6E-409C-BE32-E72D297353CC}">
                <c16:uniqueId val="{00000001-460B-4128-AE38-865A0C9D5F82}"/>
              </c:ext>
            </c:extLst>
          </c:dPt>
          <c:dPt>
            <c:idx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c:spPr>
            <c:extLst>
              <c:ext xmlns:c16="http://schemas.microsoft.com/office/drawing/2014/chart" uri="{C3380CC4-5D6E-409C-BE32-E72D297353CC}">
                <c16:uniqueId val="{00000003-460B-4128-AE38-865A0C9D5F82}"/>
              </c:ext>
            </c:extLst>
          </c:dPt>
          <c:dPt>
            <c:idx val="2"/>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c:spPr>
            <c:extLst>
              <c:ext xmlns:c16="http://schemas.microsoft.com/office/drawing/2014/chart" uri="{C3380CC4-5D6E-409C-BE32-E72D297353CC}">
                <c16:uniqueId val="{00000005-460B-4128-AE38-865A0C9D5F82}"/>
              </c:ext>
            </c:extLst>
          </c:dPt>
          <c:dPt>
            <c:idx val="3"/>
            <c:bubble3D val="0"/>
            <c:spPr>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a:noFill/>
              </a:ln>
              <a:effectLst/>
            </c:spPr>
            <c:extLst>
              <c:ext xmlns:c16="http://schemas.microsoft.com/office/drawing/2014/chart" uri="{C3380CC4-5D6E-409C-BE32-E72D297353CC}">
                <c16:uniqueId val="{00000007-460B-4128-AE38-865A0C9D5F82}"/>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2"/>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a:solidFill>
                    <a:schemeClr val="tx2">
                      <a:lumMod val="35000"/>
                      <a:lumOff val="65000"/>
                    </a:schemeClr>
                  </a:solidFill>
                </a:ln>
                <a:effectLst/>
              </c:spPr>
            </c:leaderLines>
            <c:extLst>
              <c:ext xmlns:c15="http://schemas.microsoft.com/office/drawing/2012/chart" uri="{CE6537A1-D6FC-4f65-9D91-7224C49458BB}">
                <c15:layout/>
              </c:ext>
            </c:extLst>
          </c:dLbls>
          <c:cat>
            <c:strRef>
              <c:f>'weather vs hr'!$A$4:$A$8</c:f>
              <c:strCache>
                <c:ptCount val="4"/>
                <c:pt idx="0">
                  <c:v>Cloudy</c:v>
                </c:pt>
                <c:pt idx="1">
                  <c:v>Storm</c:v>
                </c:pt>
                <c:pt idx="2">
                  <c:v>Light rain</c:v>
                </c:pt>
                <c:pt idx="3">
                  <c:v>Extreme weather</c:v>
                </c:pt>
              </c:strCache>
            </c:strRef>
          </c:cat>
          <c:val>
            <c:numRef>
              <c:f>'weather vs hr'!$B$4:$B$8</c:f>
              <c:numCache>
                <c:formatCode>General</c:formatCode>
                <c:ptCount val="4"/>
                <c:pt idx="0">
                  <c:v>4509</c:v>
                </c:pt>
                <c:pt idx="1">
                  <c:v>563</c:v>
                </c:pt>
                <c:pt idx="2">
                  <c:v>2107</c:v>
                </c:pt>
                <c:pt idx="3">
                  <c:v>16</c:v>
                </c:pt>
              </c:numCache>
            </c:numRef>
          </c:val>
          <c:extLst>
            <c:ext xmlns:c16="http://schemas.microsoft.com/office/drawing/2014/chart" uri="{C3380CC4-5D6E-409C-BE32-E72D297353CC}">
              <c16:uniqueId val="{00000008-460B-4128-AE38-865A0C9D5F82}"/>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layout/>
      <c:overlay val="0"/>
      <c:spPr>
        <a:noFill/>
        <a:ln>
          <a:noFill/>
        </a:ln>
        <a:effectLst/>
      </c:spPr>
      <c:txPr>
        <a:bodyPr rot="0" spcFirstLastPara="1" vertOverflow="ellipsis" vert="horz" wrap="square" anchor="ctr" anchorCtr="1"/>
        <a:lstStyle/>
        <a:p>
          <a:pPr>
            <a:defRPr sz="900" b="0" i="0" u="none" strike="noStrike" kern="1200" baseline="0">
              <a:solidFill>
                <a:schemeClr val="tx2"/>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[dataset_1- internship.xlsx]hr vs days!PivotTable2</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Hours</a:t>
            </a:r>
            <a:r>
              <a:rPr lang="en-IN" baseline="0"/>
              <a:t> and Total Days</a:t>
            </a:r>
            <a:endParaRPr lang="en-IN"/>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pivotFmt>
      <c:pivotFmt>
        <c:idx val="6"/>
        <c:spPr>
          <a:solidFill>
            <a:schemeClr val="accent1"/>
          </a:solidFill>
          <a:ln>
            <a:noFill/>
          </a:ln>
          <a:effectLst/>
        </c:spPr>
        <c:marker>
          <c:symbol val="none"/>
        </c:marker>
      </c:pivotFmt>
      <c:pivotFmt>
        <c:idx val="7"/>
        <c:spPr>
          <a:solidFill>
            <a:schemeClr val="accent1"/>
          </a:solidFill>
          <a:ln>
            <a:noFill/>
          </a:ln>
          <a:effectLst/>
        </c:spPr>
        <c:marker>
          <c:symbol val="none"/>
        </c:marker>
      </c:pivotFmt>
      <c:pivotFmt>
        <c:idx val="8"/>
        <c:spPr>
          <a:solidFill>
            <a:schemeClr val="accent1"/>
          </a:solidFill>
          <a:ln>
            <a:noFill/>
          </a:ln>
          <a:effectLst/>
        </c:spPr>
        <c:marker>
          <c:symbol val="none"/>
        </c:marker>
      </c:pivotFmt>
      <c:pivotFmt>
        <c:idx val="9"/>
        <c:spPr>
          <a:solidFill>
            <a:schemeClr val="accent1"/>
          </a:solidFill>
          <a:ln>
            <a:noFill/>
          </a:ln>
          <a:effectLst/>
        </c:spPr>
        <c:marker>
          <c:symbol val="none"/>
        </c:marker>
      </c:pivotFmt>
      <c:pivotFmt>
        <c:idx val="10"/>
        <c:spPr>
          <a:solidFill>
            <a:schemeClr val="accent1"/>
          </a:solidFill>
          <a:ln>
            <a:noFill/>
          </a:ln>
          <a:effectLst/>
        </c:spPr>
        <c:marker>
          <c:symbol val="none"/>
        </c:marker>
      </c:pivotFmt>
      <c:pivotFmt>
        <c:idx val="11"/>
        <c:spPr>
          <a:solidFill>
            <a:schemeClr val="accent1"/>
          </a:solidFill>
          <a:ln>
            <a:noFill/>
          </a:ln>
          <a:effectLst/>
        </c:spPr>
        <c:marker>
          <c:symbol val="none"/>
        </c:marker>
      </c:pivotFmt>
      <c:pivotFmt>
        <c:idx val="12"/>
        <c:spPr>
          <a:solidFill>
            <a:schemeClr val="accent1"/>
          </a:solidFill>
          <a:ln>
            <a:noFill/>
          </a:ln>
          <a:effectLst/>
        </c:spPr>
        <c:marker>
          <c:symbol val="none"/>
        </c:marker>
      </c:pivotFmt>
      <c:pivotFmt>
        <c:idx val="13"/>
        <c:spPr>
          <a:solidFill>
            <a:schemeClr val="accent1"/>
          </a:solidFill>
          <a:ln>
            <a:noFill/>
          </a:ln>
          <a:effectLst/>
        </c:spPr>
        <c:marker>
          <c:symbol val="none"/>
        </c:marker>
      </c:pivotFmt>
      <c:pivotFmt>
        <c:idx val="14"/>
        <c:spPr>
          <a:solidFill>
            <a:schemeClr val="accent1"/>
          </a:solidFill>
          <a:ln>
            <a:noFill/>
          </a:ln>
          <a:effectLst/>
        </c:spPr>
        <c:marker>
          <c:symbol val="none"/>
        </c:marker>
      </c:pivotFmt>
      <c:pivotFmt>
        <c:idx val="15"/>
        <c:spPr>
          <a:solidFill>
            <a:schemeClr val="accent1"/>
          </a:solidFill>
          <a:ln>
            <a:noFill/>
          </a:ln>
          <a:effectLst/>
        </c:spPr>
        <c:marker>
          <c:symbol val="none"/>
        </c:marker>
      </c:pivotFmt>
      <c:pivotFmt>
        <c:idx val="16"/>
        <c:spPr>
          <a:solidFill>
            <a:schemeClr val="accent1"/>
          </a:solidFill>
          <a:ln>
            <a:noFill/>
          </a:ln>
          <a:effectLst/>
        </c:spPr>
        <c:marker>
          <c:symbol val="none"/>
        </c:marker>
      </c:pivotFmt>
      <c:pivotFmt>
        <c:idx val="17"/>
        <c:spPr>
          <a:solidFill>
            <a:schemeClr val="accent1"/>
          </a:solidFill>
          <a:ln>
            <a:noFill/>
          </a:ln>
          <a:effectLst/>
        </c:spPr>
        <c:marker>
          <c:symbol val="none"/>
        </c:marker>
      </c:pivotFmt>
      <c:pivotFmt>
        <c:idx val="18"/>
        <c:spPr>
          <a:solidFill>
            <a:schemeClr val="accent1"/>
          </a:solidFill>
          <a:ln>
            <a:noFill/>
          </a:ln>
          <a:effectLst/>
        </c:spPr>
        <c:marker>
          <c:symbol val="none"/>
        </c:marker>
      </c:pivotFmt>
      <c:pivotFmt>
        <c:idx val="19"/>
        <c:spPr>
          <a:solidFill>
            <a:schemeClr val="accent1"/>
          </a:solidFill>
          <a:ln>
            <a:noFill/>
          </a:ln>
          <a:effectLst/>
        </c:spPr>
        <c:marker>
          <c:symbol val="none"/>
        </c:marker>
      </c:pivotFmt>
      <c:pivotFmt>
        <c:idx val="20"/>
        <c:spPr>
          <a:solidFill>
            <a:schemeClr val="accent1"/>
          </a:solidFill>
          <a:ln>
            <a:noFill/>
          </a:ln>
          <a:effectLst/>
        </c:spPr>
        <c:marker>
          <c:symbol val="none"/>
        </c:marker>
      </c:pivotFmt>
      <c:pivotFmt>
        <c:idx val="21"/>
        <c:spPr>
          <a:solidFill>
            <a:schemeClr val="accent1"/>
          </a:solidFill>
          <a:ln>
            <a:noFill/>
          </a:ln>
          <a:effectLst/>
        </c:spPr>
        <c:marker>
          <c:symbol val="none"/>
        </c:marker>
      </c:pivotFmt>
      <c:pivotFmt>
        <c:idx val="22"/>
        <c:spPr>
          <a:solidFill>
            <a:schemeClr val="accent1"/>
          </a:solidFill>
          <a:ln>
            <a:noFill/>
          </a:ln>
          <a:effectLst/>
        </c:spPr>
        <c:marker>
          <c:symbol val="none"/>
        </c:marker>
      </c:pivotFmt>
      <c:pivotFmt>
        <c:idx val="23"/>
        <c:spPr>
          <a:solidFill>
            <a:schemeClr val="accent1"/>
          </a:solidFill>
          <a:ln>
            <a:noFill/>
          </a:ln>
          <a:effectLst/>
        </c:spPr>
        <c:marker>
          <c:symbol val="none"/>
        </c:marker>
      </c:pivotFmt>
    </c:pivotFmts>
    <c:plotArea>
      <c:layout/>
      <c:barChart>
        <c:barDir val="col"/>
        <c:grouping val="clustered"/>
        <c:varyColors val="0"/>
        <c:ser>
          <c:idx val="0"/>
          <c:order val="0"/>
          <c:tx>
            <c:strRef>
              <c:f>'hr vs days'!$B$3:$B$4</c:f>
              <c:strCache>
                <c:ptCount val="1"/>
                <c:pt idx="0">
                  <c:v>Sunday</c:v>
                </c:pt>
              </c:strCache>
            </c:strRef>
          </c:tx>
          <c:spPr>
            <a:solidFill>
              <a:schemeClr val="accent1"/>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days'!$B$5:$B$29</c:f>
              <c:numCache>
                <c:formatCode>General</c:formatCode>
                <c:ptCount val="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numCache>
            </c:numRef>
          </c:val>
          <c:extLst>
            <c:ext xmlns:c16="http://schemas.microsoft.com/office/drawing/2014/chart" uri="{C3380CC4-5D6E-409C-BE32-E72D297353CC}">
              <c16:uniqueId val="{00000000-F5A3-44B1-AA73-1EEE78AA602E}"/>
            </c:ext>
          </c:extLst>
        </c:ser>
        <c:ser>
          <c:idx val="1"/>
          <c:order val="1"/>
          <c:tx>
            <c:strRef>
              <c:f>'hr vs days'!$C$3:$C$4</c:f>
              <c:strCache>
                <c:ptCount val="1"/>
                <c:pt idx="0">
                  <c:v>Monday</c:v>
                </c:pt>
              </c:strCache>
            </c:strRef>
          </c:tx>
          <c:spPr>
            <a:solidFill>
              <a:schemeClr val="accent2"/>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days'!$C$5:$C$29</c:f>
              <c:numCache>
                <c:formatCode>General</c:formatCode>
                <c:ptCount val="24"/>
                <c:pt idx="0">
                  <c:v>16</c:v>
                </c:pt>
                <c:pt idx="1">
                  <c:v>7</c:v>
                </c:pt>
                <c:pt idx="2">
                  <c:v>5</c:v>
                </c:pt>
                <c:pt idx="3">
                  <c:v>3</c:v>
                </c:pt>
                <c:pt idx="4">
                  <c:v>3</c:v>
                </c:pt>
                <c:pt idx="5">
                  <c:v>6</c:v>
                </c:pt>
                <c:pt idx="6">
                  <c:v>7</c:v>
                </c:pt>
                <c:pt idx="7">
                  <c:v>6</c:v>
                </c:pt>
                <c:pt idx="8">
                  <c:v>4</c:v>
                </c:pt>
                <c:pt idx="9">
                  <c:v>3</c:v>
                </c:pt>
                <c:pt idx="10">
                  <c:v>4</c:v>
                </c:pt>
                <c:pt idx="11">
                  <c:v>5</c:v>
                </c:pt>
                <c:pt idx="12">
                  <c:v>4</c:v>
                </c:pt>
                <c:pt idx="13">
                  <c:v>4</c:v>
                </c:pt>
                <c:pt idx="14">
                  <c:v>5</c:v>
                </c:pt>
                <c:pt idx="15">
                  <c:v>8</c:v>
                </c:pt>
                <c:pt idx="16">
                  <c:v>4</c:v>
                </c:pt>
                <c:pt idx="17">
                  <c:v>9</c:v>
                </c:pt>
                <c:pt idx="18">
                  <c:v>4</c:v>
                </c:pt>
                <c:pt idx="19">
                  <c:v>4</c:v>
                </c:pt>
                <c:pt idx="20">
                  <c:v>8</c:v>
                </c:pt>
                <c:pt idx="21">
                  <c:v>4</c:v>
                </c:pt>
                <c:pt idx="22">
                  <c:v>8</c:v>
                </c:pt>
                <c:pt idx="23">
                  <c:v>6</c:v>
                </c:pt>
              </c:numCache>
            </c:numRef>
          </c:val>
          <c:extLst>
            <c:ext xmlns:c16="http://schemas.microsoft.com/office/drawing/2014/chart" uri="{C3380CC4-5D6E-409C-BE32-E72D297353CC}">
              <c16:uniqueId val="{00000001-F5A3-44B1-AA73-1EEE78AA602E}"/>
            </c:ext>
          </c:extLst>
        </c:ser>
        <c:ser>
          <c:idx val="2"/>
          <c:order val="2"/>
          <c:tx>
            <c:strRef>
              <c:f>'hr vs days'!$D$3:$D$4</c:f>
              <c:strCache>
                <c:ptCount val="1"/>
                <c:pt idx="0">
                  <c:v>Tuesday</c:v>
                </c:pt>
              </c:strCache>
            </c:strRef>
          </c:tx>
          <c:spPr>
            <a:solidFill>
              <a:schemeClr val="accent3"/>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days'!$D$5:$D$29</c:f>
              <c:numCache>
                <c:formatCode>General</c:formatCode>
                <c:ptCount val="24"/>
                <c:pt idx="0">
                  <c:v>12</c:v>
                </c:pt>
                <c:pt idx="1">
                  <c:v>12</c:v>
                </c:pt>
                <c:pt idx="2">
                  <c:v>5</c:v>
                </c:pt>
                <c:pt idx="4">
                  <c:v>6</c:v>
                </c:pt>
                <c:pt idx="5">
                  <c:v>14</c:v>
                </c:pt>
                <c:pt idx="6">
                  <c:v>6</c:v>
                </c:pt>
                <c:pt idx="7">
                  <c:v>16</c:v>
                </c:pt>
                <c:pt idx="8">
                  <c:v>4</c:v>
                </c:pt>
                <c:pt idx="9">
                  <c:v>10</c:v>
                </c:pt>
                <c:pt idx="10">
                  <c:v>5</c:v>
                </c:pt>
                <c:pt idx="11">
                  <c:v>8</c:v>
                </c:pt>
                <c:pt idx="12">
                  <c:v>4</c:v>
                </c:pt>
                <c:pt idx="13">
                  <c:v>9</c:v>
                </c:pt>
                <c:pt idx="14">
                  <c:v>5</c:v>
                </c:pt>
                <c:pt idx="15">
                  <c:v>6</c:v>
                </c:pt>
                <c:pt idx="16">
                  <c:v>6</c:v>
                </c:pt>
                <c:pt idx="17">
                  <c:v>8</c:v>
                </c:pt>
                <c:pt idx="18">
                  <c:v>8</c:v>
                </c:pt>
                <c:pt idx="19">
                  <c:v>8</c:v>
                </c:pt>
                <c:pt idx="20">
                  <c:v>14</c:v>
                </c:pt>
                <c:pt idx="21">
                  <c:v>8</c:v>
                </c:pt>
                <c:pt idx="22">
                  <c:v>8</c:v>
                </c:pt>
                <c:pt idx="23">
                  <c:v>6</c:v>
                </c:pt>
              </c:numCache>
            </c:numRef>
          </c:val>
          <c:extLst>
            <c:ext xmlns:c16="http://schemas.microsoft.com/office/drawing/2014/chart" uri="{C3380CC4-5D6E-409C-BE32-E72D297353CC}">
              <c16:uniqueId val="{00000002-F5A3-44B1-AA73-1EEE78AA602E}"/>
            </c:ext>
          </c:extLst>
        </c:ser>
        <c:ser>
          <c:idx val="3"/>
          <c:order val="3"/>
          <c:tx>
            <c:strRef>
              <c:f>'hr vs days'!$E$3:$E$4</c:f>
              <c:strCache>
                <c:ptCount val="1"/>
                <c:pt idx="0">
                  <c:v>Wednesday</c:v>
                </c:pt>
              </c:strCache>
            </c:strRef>
          </c:tx>
          <c:spPr>
            <a:solidFill>
              <a:schemeClr val="accent4"/>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days'!$E$5:$E$29</c:f>
              <c:numCache>
                <c:formatCode>General</c:formatCode>
                <c:ptCount val="24"/>
                <c:pt idx="0">
                  <c:v>12</c:v>
                </c:pt>
                <c:pt idx="1">
                  <c:v>10</c:v>
                </c:pt>
                <c:pt idx="2">
                  <c:v>9</c:v>
                </c:pt>
                <c:pt idx="4">
                  <c:v>3</c:v>
                </c:pt>
                <c:pt idx="5">
                  <c:v>10</c:v>
                </c:pt>
                <c:pt idx="6">
                  <c:v>17</c:v>
                </c:pt>
                <c:pt idx="7">
                  <c:v>6</c:v>
                </c:pt>
                <c:pt idx="8">
                  <c:v>12</c:v>
                </c:pt>
                <c:pt idx="9">
                  <c:v>12</c:v>
                </c:pt>
                <c:pt idx="10">
                  <c:v>25</c:v>
                </c:pt>
                <c:pt idx="11">
                  <c:v>21</c:v>
                </c:pt>
                <c:pt idx="12">
                  <c:v>23</c:v>
                </c:pt>
                <c:pt idx="13">
                  <c:v>7</c:v>
                </c:pt>
                <c:pt idx="14">
                  <c:v>19</c:v>
                </c:pt>
                <c:pt idx="15">
                  <c:v>20</c:v>
                </c:pt>
                <c:pt idx="16">
                  <c:v>13</c:v>
                </c:pt>
                <c:pt idx="17">
                  <c:v>9</c:v>
                </c:pt>
                <c:pt idx="18">
                  <c:v>10</c:v>
                </c:pt>
                <c:pt idx="19">
                  <c:v>6</c:v>
                </c:pt>
                <c:pt idx="20">
                  <c:v>15</c:v>
                </c:pt>
                <c:pt idx="21">
                  <c:v>9</c:v>
                </c:pt>
                <c:pt idx="22">
                  <c:v>9</c:v>
                </c:pt>
                <c:pt idx="23">
                  <c:v>9</c:v>
                </c:pt>
              </c:numCache>
            </c:numRef>
          </c:val>
          <c:extLst>
            <c:ext xmlns:c16="http://schemas.microsoft.com/office/drawing/2014/chart" uri="{C3380CC4-5D6E-409C-BE32-E72D297353CC}">
              <c16:uniqueId val="{00000003-F5A3-44B1-AA73-1EEE78AA602E}"/>
            </c:ext>
          </c:extLst>
        </c:ser>
        <c:ser>
          <c:idx val="4"/>
          <c:order val="4"/>
          <c:tx>
            <c:strRef>
              <c:f>'hr vs days'!$F$3:$F$4</c:f>
              <c:strCache>
                <c:ptCount val="1"/>
                <c:pt idx="0">
                  <c:v>Thursday</c:v>
                </c:pt>
              </c:strCache>
            </c:strRef>
          </c:tx>
          <c:spPr>
            <a:solidFill>
              <a:schemeClr val="accent5"/>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days'!$F$5:$F$29</c:f>
              <c:numCache>
                <c:formatCode>General</c:formatCode>
                <c:ptCount val="24"/>
                <c:pt idx="0">
                  <c:v>20</c:v>
                </c:pt>
                <c:pt idx="1">
                  <c:v>8</c:v>
                </c:pt>
                <c:pt idx="2">
                  <c:v>12</c:v>
                </c:pt>
                <c:pt idx="3">
                  <c:v>13</c:v>
                </c:pt>
                <c:pt idx="4">
                  <c:v>12</c:v>
                </c:pt>
                <c:pt idx="5">
                  <c:v>14</c:v>
                </c:pt>
                <c:pt idx="6">
                  <c:v>4</c:v>
                </c:pt>
                <c:pt idx="7">
                  <c:v>12</c:v>
                </c:pt>
                <c:pt idx="8">
                  <c:v>12</c:v>
                </c:pt>
                <c:pt idx="9">
                  <c:v>17</c:v>
                </c:pt>
                <c:pt idx="10">
                  <c:v>4</c:v>
                </c:pt>
                <c:pt idx="12">
                  <c:v>11</c:v>
                </c:pt>
                <c:pt idx="13">
                  <c:v>19</c:v>
                </c:pt>
                <c:pt idx="14">
                  <c:v>15</c:v>
                </c:pt>
                <c:pt idx="15">
                  <c:v>11</c:v>
                </c:pt>
                <c:pt idx="16">
                  <c:v>12</c:v>
                </c:pt>
                <c:pt idx="17">
                  <c:v>16</c:v>
                </c:pt>
                <c:pt idx="18">
                  <c:v>18</c:v>
                </c:pt>
                <c:pt idx="19">
                  <c:v>26</c:v>
                </c:pt>
                <c:pt idx="20">
                  <c:v>17</c:v>
                </c:pt>
                <c:pt idx="21">
                  <c:v>16</c:v>
                </c:pt>
                <c:pt idx="22">
                  <c:v>16</c:v>
                </c:pt>
                <c:pt idx="23">
                  <c:v>16</c:v>
                </c:pt>
              </c:numCache>
            </c:numRef>
          </c:val>
          <c:extLst>
            <c:ext xmlns:c16="http://schemas.microsoft.com/office/drawing/2014/chart" uri="{C3380CC4-5D6E-409C-BE32-E72D297353CC}">
              <c16:uniqueId val="{00000004-F5A3-44B1-AA73-1EEE78AA602E}"/>
            </c:ext>
          </c:extLst>
        </c:ser>
        <c:ser>
          <c:idx val="5"/>
          <c:order val="5"/>
          <c:tx>
            <c:strRef>
              <c:f>'hr vs days'!$G$3:$G$4</c:f>
              <c:strCache>
                <c:ptCount val="1"/>
                <c:pt idx="0">
                  <c:v>Friday</c:v>
                </c:pt>
              </c:strCache>
            </c:strRef>
          </c:tx>
          <c:spPr>
            <a:solidFill>
              <a:schemeClr val="accent6"/>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days'!$G$5:$G$29</c:f>
              <c:numCache>
                <c:formatCode>General</c:formatCode>
                <c:ptCount val="24"/>
                <c:pt idx="0">
                  <c:v>12</c:v>
                </c:pt>
                <c:pt idx="1">
                  <c:v>27</c:v>
                </c:pt>
                <c:pt idx="2">
                  <c:v>20</c:v>
                </c:pt>
                <c:pt idx="3">
                  <c:v>10</c:v>
                </c:pt>
                <c:pt idx="4">
                  <c:v>10</c:v>
                </c:pt>
                <c:pt idx="5">
                  <c:v>16</c:v>
                </c:pt>
                <c:pt idx="6">
                  <c:v>26</c:v>
                </c:pt>
                <c:pt idx="7">
                  <c:v>16</c:v>
                </c:pt>
                <c:pt idx="8">
                  <c:v>20</c:v>
                </c:pt>
                <c:pt idx="9">
                  <c:v>17</c:v>
                </c:pt>
                <c:pt idx="10">
                  <c:v>18</c:v>
                </c:pt>
                <c:pt idx="11">
                  <c:v>40</c:v>
                </c:pt>
                <c:pt idx="12">
                  <c:v>21</c:v>
                </c:pt>
                <c:pt idx="13">
                  <c:v>21</c:v>
                </c:pt>
                <c:pt idx="14">
                  <c:v>21</c:v>
                </c:pt>
                <c:pt idx="15">
                  <c:v>16</c:v>
                </c:pt>
                <c:pt idx="16">
                  <c:v>15</c:v>
                </c:pt>
                <c:pt idx="17">
                  <c:v>10</c:v>
                </c:pt>
                <c:pt idx="18">
                  <c:v>15</c:v>
                </c:pt>
                <c:pt idx="19">
                  <c:v>5</c:v>
                </c:pt>
                <c:pt idx="20">
                  <c:v>10</c:v>
                </c:pt>
                <c:pt idx="21">
                  <c:v>10</c:v>
                </c:pt>
                <c:pt idx="22">
                  <c:v>10</c:v>
                </c:pt>
                <c:pt idx="23">
                  <c:v>15</c:v>
                </c:pt>
              </c:numCache>
            </c:numRef>
          </c:val>
          <c:extLst>
            <c:ext xmlns:c16="http://schemas.microsoft.com/office/drawing/2014/chart" uri="{C3380CC4-5D6E-409C-BE32-E72D297353CC}">
              <c16:uniqueId val="{00000005-F5A3-44B1-AA73-1EEE78AA602E}"/>
            </c:ext>
          </c:extLst>
        </c:ser>
        <c:ser>
          <c:idx val="6"/>
          <c:order val="6"/>
          <c:tx>
            <c:strRef>
              <c:f>'hr vs days'!$H$3:$H$4</c:f>
              <c:strCache>
                <c:ptCount val="1"/>
                <c:pt idx="0">
                  <c:v>Saturday</c:v>
                </c:pt>
              </c:strCache>
            </c:strRef>
          </c:tx>
          <c:spPr>
            <a:solidFill>
              <a:schemeClr val="accent1">
                <a:lumMod val="60000"/>
              </a:schemeClr>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days'!$H$5:$H$29</c:f>
              <c:numCache>
                <c:formatCode>General</c:formatCode>
                <c:ptCount val="24"/>
                <c:pt idx="0">
                  <c:v>6</c:v>
                </c:pt>
                <c:pt idx="1">
                  <c:v>13</c:v>
                </c:pt>
                <c:pt idx="2">
                  <c:v>24</c:v>
                </c:pt>
                <c:pt idx="3">
                  <c:v>24</c:v>
                </c:pt>
                <c:pt idx="4">
                  <c:v>18</c:v>
                </c:pt>
                <c:pt idx="5">
                  <c:v>12</c:v>
                </c:pt>
                <c:pt idx="6">
                  <c:v>18</c:v>
                </c:pt>
                <c:pt idx="7">
                  <c:v>19</c:v>
                </c:pt>
                <c:pt idx="8">
                  <c:v>24</c:v>
                </c:pt>
                <c:pt idx="9">
                  <c:v>18</c:v>
                </c:pt>
                <c:pt idx="10">
                  <c:v>18</c:v>
                </c:pt>
                <c:pt idx="12">
                  <c:v>15</c:v>
                </c:pt>
                <c:pt idx="13">
                  <c:v>12</c:v>
                </c:pt>
                <c:pt idx="14">
                  <c:v>12</c:v>
                </c:pt>
                <c:pt idx="15">
                  <c:v>12</c:v>
                </c:pt>
                <c:pt idx="16">
                  <c:v>18</c:v>
                </c:pt>
                <c:pt idx="17">
                  <c:v>24</c:v>
                </c:pt>
                <c:pt idx="18">
                  <c:v>21</c:v>
                </c:pt>
                <c:pt idx="19">
                  <c:v>27</c:v>
                </c:pt>
                <c:pt idx="20">
                  <c:v>12</c:v>
                </c:pt>
                <c:pt idx="21">
                  <c:v>24</c:v>
                </c:pt>
                <c:pt idx="22">
                  <c:v>25</c:v>
                </c:pt>
                <c:pt idx="23">
                  <c:v>18</c:v>
                </c:pt>
              </c:numCache>
            </c:numRef>
          </c:val>
          <c:extLst>
            <c:ext xmlns:c16="http://schemas.microsoft.com/office/drawing/2014/chart" uri="{C3380CC4-5D6E-409C-BE32-E72D297353CC}">
              <c16:uniqueId val="{00000006-F5A3-44B1-AA73-1EEE78AA602E}"/>
            </c:ext>
          </c:extLst>
        </c:ser>
        <c:ser>
          <c:idx val="7"/>
          <c:order val="7"/>
          <c:tx>
            <c:strRef>
              <c:f>'hr vs days'!$I$3:$I$4</c:f>
              <c:strCache>
                <c:ptCount val="1"/>
                <c:pt idx="0">
                  <c:v>FALSE</c:v>
                </c:pt>
              </c:strCache>
            </c:strRef>
          </c:tx>
          <c:spPr>
            <a:solidFill>
              <a:schemeClr val="accent2">
                <a:lumMod val="60000"/>
              </a:schemeClr>
            </a:solidFill>
            <a:ln>
              <a:noFill/>
            </a:ln>
            <a:effectLst/>
          </c:spPr>
          <c:invertIfNegative val="0"/>
          <c:cat>
            <c:strRef>
              <c:f>'hr vs days'!$A$5:$A$29</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days'!$I$5:$I$29</c:f>
              <c:numCache>
                <c:formatCode>General</c:formatCode>
                <c:ptCount val="24"/>
                <c:pt idx="1">
                  <c:v>1</c:v>
                </c:pt>
                <c:pt idx="2">
                  <c:v>1</c:v>
                </c:pt>
                <c:pt idx="4">
                  <c:v>8</c:v>
                </c:pt>
                <c:pt idx="7">
                  <c:v>3</c:v>
                </c:pt>
                <c:pt idx="8">
                  <c:v>2</c:v>
                </c:pt>
                <c:pt idx="9">
                  <c:v>1</c:v>
                </c:pt>
                <c:pt idx="10">
                  <c:v>4</c:v>
                </c:pt>
                <c:pt idx="11">
                  <c:v>4</c:v>
                </c:pt>
                <c:pt idx="12">
                  <c:v>2</c:v>
                </c:pt>
                <c:pt idx="13">
                  <c:v>8</c:v>
                </c:pt>
                <c:pt idx="14">
                  <c:v>3</c:v>
                </c:pt>
                <c:pt idx="15">
                  <c:v>7</c:v>
                </c:pt>
                <c:pt idx="16">
                  <c:v>11</c:v>
                </c:pt>
                <c:pt idx="17">
                  <c:v>3</c:v>
                </c:pt>
                <c:pt idx="21">
                  <c:v>5</c:v>
                </c:pt>
                <c:pt idx="23">
                  <c:v>6</c:v>
                </c:pt>
              </c:numCache>
            </c:numRef>
          </c:val>
          <c:extLst>
            <c:ext xmlns:c16="http://schemas.microsoft.com/office/drawing/2014/chart" uri="{C3380CC4-5D6E-409C-BE32-E72D297353CC}">
              <c16:uniqueId val="{00000007-F5A3-44B1-AA73-1EEE78AA602E}"/>
            </c:ext>
          </c:extLst>
        </c:ser>
        <c:dLbls>
          <c:showLegendKey val="0"/>
          <c:showVal val="0"/>
          <c:showCatName val="0"/>
          <c:showSerName val="0"/>
          <c:showPercent val="0"/>
          <c:showBubbleSize val="0"/>
        </c:dLbls>
        <c:gapWidth val="219"/>
        <c:overlap val="-27"/>
        <c:axId val="454197336"/>
        <c:axId val="454188808"/>
      </c:barChart>
      <c:catAx>
        <c:axId val="454197336"/>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Hours</a:t>
                </a:r>
              </a:p>
            </c:rich>
          </c:tx>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4188808"/>
        <c:crosses val="autoZero"/>
        <c:auto val="1"/>
        <c:lblAlgn val="ctr"/>
        <c:lblOffset val="100"/>
        <c:noMultiLvlLbl val="0"/>
      </c:catAx>
      <c:valAx>
        <c:axId val="45418880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Total</a:t>
                </a:r>
                <a:r>
                  <a:rPr lang="en-IN" baseline="0"/>
                  <a:t> Days</a:t>
                </a:r>
                <a:endParaRPr lang="en-IN"/>
              </a:p>
            </c:rich>
          </c:tx>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4197336"/>
        <c:crosses val="autoZero"/>
        <c:crossBetween val="between"/>
      </c:valAx>
      <c:spPr>
        <a:noFill/>
        <a:ln>
          <a:noFill/>
        </a:ln>
        <a:effectLst/>
      </c:spPr>
    </c:plotArea>
    <c:legend>
      <c:legendPos val="r"/>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[dataset_2- internship.xlsx]windspeed vs casual users!PivotTable2</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Windspeed affecting</a:t>
            </a:r>
            <a:r>
              <a:rPr lang="en-US" baseline="0"/>
              <a:t> Casual users</a:t>
            </a:r>
            <a:endParaRPr lang="en-US"/>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3"/>
          </a:solidFill>
          <a:ln>
            <a:noFill/>
          </a:ln>
          <a:effectLst/>
        </c:spPr>
        <c:marker>
          <c:symbol val="none"/>
        </c:marker>
      </c:pivotFmt>
      <c:pivotFmt>
        <c:idx val="1"/>
        <c:spPr>
          <a:solidFill>
            <a:schemeClr val="accent3"/>
          </a:solidFill>
          <a:ln>
            <a:noFill/>
          </a:ln>
          <a:effectLst/>
        </c:spPr>
        <c:marker>
          <c:symbol val="none"/>
        </c:marker>
      </c:pivotFmt>
      <c:pivotFmt>
        <c:idx val="2"/>
        <c:spPr>
          <a:solidFill>
            <a:schemeClr val="accent3"/>
          </a:solidFill>
          <a:ln>
            <a:noFill/>
          </a:ln>
          <a:effectLst/>
        </c:spPr>
        <c:marker>
          <c:symbol val="none"/>
        </c:marker>
      </c:pivotFmt>
      <c:pivotFmt>
        <c:idx val="3"/>
        <c:spPr>
          <a:solidFill>
            <a:schemeClr val="accent3"/>
          </a:solidFill>
          <a:ln>
            <a:noFill/>
          </a:ln>
          <a:effectLst/>
        </c:spPr>
        <c:marker>
          <c:symbol val="none"/>
        </c:marker>
      </c:pivotFmt>
    </c:pivotFmts>
    <c:plotArea>
      <c:layout/>
      <c:barChart>
        <c:barDir val="col"/>
        <c:grouping val="clustered"/>
        <c:varyColors val="0"/>
        <c:ser>
          <c:idx val="0"/>
          <c:order val="0"/>
          <c:tx>
            <c:strRef>
              <c:f>'windspeed vs casual users'!$B$3</c:f>
              <c:strCache>
                <c:ptCount val="1"/>
                <c:pt idx="0">
                  <c:v>Total</c:v>
                </c:pt>
              </c:strCache>
            </c:strRef>
          </c:tx>
          <c:spPr>
            <a:solidFill>
              <a:schemeClr val="accent3"/>
            </a:solidFill>
            <a:ln>
              <a:noFill/>
            </a:ln>
            <a:effectLst/>
          </c:spPr>
          <c:invertIfNegative val="0"/>
          <c:cat>
            <c:strRef>
              <c:f>'windspeed vs casual users'!$A$4:$A$24</c:f>
              <c:strCache>
                <c:ptCount val="20"/>
                <c:pt idx="0">
                  <c:v>0.0000</c:v>
                </c:pt>
                <c:pt idx="1">
                  <c:v>0.0896</c:v>
                </c:pt>
                <c:pt idx="2">
                  <c:v>0.1045</c:v>
                </c:pt>
                <c:pt idx="3">
                  <c:v>0.1343</c:v>
                </c:pt>
                <c:pt idx="4">
                  <c:v>0.1642</c:v>
                </c:pt>
                <c:pt idx="5">
                  <c:v>0.1940</c:v>
                </c:pt>
                <c:pt idx="6">
                  <c:v>0.2239</c:v>
                </c:pt>
                <c:pt idx="7">
                  <c:v>0.2537</c:v>
                </c:pt>
                <c:pt idx="8">
                  <c:v>0.2836</c:v>
                </c:pt>
                <c:pt idx="9">
                  <c:v>0.2985</c:v>
                </c:pt>
                <c:pt idx="10">
                  <c:v>0.3284</c:v>
                </c:pt>
                <c:pt idx="11">
                  <c:v>0.3582</c:v>
                </c:pt>
                <c:pt idx="12">
                  <c:v>0.3881</c:v>
                </c:pt>
                <c:pt idx="13">
                  <c:v>0.4179</c:v>
                </c:pt>
                <c:pt idx="14">
                  <c:v>0.4478</c:v>
                </c:pt>
                <c:pt idx="15">
                  <c:v>0.4627</c:v>
                </c:pt>
                <c:pt idx="16">
                  <c:v>0.4925</c:v>
                </c:pt>
                <c:pt idx="17">
                  <c:v>0.5224</c:v>
                </c:pt>
                <c:pt idx="18">
                  <c:v>0.5522</c:v>
                </c:pt>
                <c:pt idx="19">
                  <c:v>0.5821</c:v>
                </c:pt>
              </c:strCache>
            </c:strRef>
          </c:cat>
          <c:val>
            <c:numRef>
              <c:f>'windspeed vs casual users'!$B$4:$B$24</c:f>
              <c:numCache>
                <c:formatCode>General</c:formatCode>
                <c:ptCount val="20"/>
                <c:pt idx="0">
                  <c:v>253</c:v>
                </c:pt>
                <c:pt idx="1">
                  <c:v>116</c:v>
                </c:pt>
                <c:pt idx="2">
                  <c:v>122</c:v>
                </c:pt>
                <c:pt idx="3">
                  <c:v>164</c:v>
                </c:pt>
                <c:pt idx="4">
                  <c:v>251</c:v>
                </c:pt>
                <c:pt idx="5">
                  <c:v>238</c:v>
                </c:pt>
                <c:pt idx="6">
                  <c:v>206</c:v>
                </c:pt>
                <c:pt idx="7">
                  <c:v>358</c:v>
                </c:pt>
                <c:pt idx="8">
                  <c:v>305</c:v>
                </c:pt>
                <c:pt idx="9">
                  <c:v>272</c:v>
                </c:pt>
                <c:pt idx="10">
                  <c:v>160</c:v>
                </c:pt>
                <c:pt idx="11">
                  <c:v>74</c:v>
                </c:pt>
                <c:pt idx="12">
                  <c:v>67</c:v>
                </c:pt>
                <c:pt idx="13">
                  <c:v>17</c:v>
                </c:pt>
                <c:pt idx="14">
                  <c:v>48</c:v>
                </c:pt>
                <c:pt idx="15">
                  <c:v>46</c:v>
                </c:pt>
                <c:pt idx="16">
                  <c:v>12</c:v>
                </c:pt>
                <c:pt idx="17">
                  <c:v>10</c:v>
                </c:pt>
                <c:pt idx="18">
                  <c:v>5</c:v>
                </c:pt>
                <c:pt idx="19">
                  <c:v>22</c:v>
                </c:pt>
              </c:numCache>
            </c:numRef>
          </c:val>
          <c:extLst>
            <c:ext xmlns:c16="http://schemas.microsoft.com/office/drawing/2014/chart" uri="{C3380CC4-5D6E-409C-BE32-E72D297353CC}">
              <c16:uniqueId val="{00000000-D9DE-4738-A7A8-35EFDAC4D3B4}"/>
            </c:ext>
          </c:extLst>
        </c:ser>
        <c:dLbls>
          <c:showLegendKey val="0"/>
          <c:showVal val="0"/>
          <c:showCatName val="0"/>
          <c:showSerName val="0"/>
          <c:showPercent val="0"/>
          <c:showBubbleSize val="0"/>
        </c:dLbls>
        <c:gapWidth val="219"/>
        <c:overlap val="-27"/>
        <c:axId val="740027440"/>
        <c:axId val="740023832"/>
      </c:barChart>
      <c:catAx>
        <c:axId val="740027440"/>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Windspeed</a:t>
                </a:r>
              </a:p>
            </c:rich>
          </c:tx>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40023832"/>
        <c:crosses val="autoZero"/>
        <c:auto val="1"/>
        <c:lblAlgn val="ctr"/>
        <c:lblOffset val="100"/>
        <c:noMultiLvlLbl val="0"/>
      </c:catAx>
      <c:valAx>
        <c:axId val="74002383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Casual</a:t>
                </a:r>
                <a:r>
                  <a:rPr lang="en-IN" baseline="0"/>
                  <a:t> Users</a:t>
                </a:r>
                <a:endParaRPr lang="en-IN"/>
              </a:p>
            </c:rich>
          </c:tx>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4002744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[dataset_2- internship.xlsx]hum vs rentals!PivotTable1</c:name>
    <c:fmtId val="4"/>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Humidity</a:t>
            </a:r>
            <a:r>
              <a:rPr lang="en-IN" baseline="0"/>
              <a:t> affecting bike rentals</a:t>
            </a:r>
            <a:endParaRPr lang="en-IN"/>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w="28575" cap="rnd">
            <a:solidFill>
              <a:schemeClr val="accent1"/>
            </a:solidFill>
            <a:round/>
          </a:ln>
          <a:effectLst/>
        </c:spPr>
        <c:marker>
          <c:symbol val="none"/>
        </c:marker>
      </c:pivotFmt>
      <c:pivotFmt>
        <c:idx val="1"/>
        <c:spPr>
          <a:solidFill>
            <a:schemeClr val="accent1"/>
          </a:solidFill>
          <a:ln w="28575" cap="rnd">
            <a:solidFill>
              <a:schemeClr val="accent1"/>
            </a:solidFill>
            <a:round/>
          </a:ln>
          <a:effectLst/>
        </c:spPr>
        <c:marker>
          <c:symbol val="none"/>
        </c:marker>
      </c:pivotFmt>
      <c:pivotFmt>
        <c:idx val="2"/>
        <c:spPr>
          <a:solidFill>
            <a:schemeClr val="accent1"/>
          </a:solidFill>
          <a:ln w="28575" cap="rnd">
            <a:solidFill>
              <a:schemeClr val="accent1"/>
            </a:solidFill>
            <a:round/>
          </a:ln>
          <a:effectLst/>
        </c:spPr>
        <c:marker>
          <c:symbol val="none"/>
        </c:marker>
      </c:pivotFmt>
    </c:pivotFmts>
    <c:plotArea>
      <c:layout/>
      <c:lineChart>
        <c:grouping val="standard"/>
        <c:varyColors val="0"/>
        <c:ser>
          <c:idx val="0"/>
          <c:order val="0"/>
          <c:tx>
            <c:strRef>
              <c:f>'hum vs rentals'!$B$3</c:f>
              <c:strCache>
                <c:ptCount val="1"/>
                <c:pt idx="0">
                  <c:v>Total</c:v>
                </c:pt>
              </c:strCache>
            </c:strRef>
          </c:tx>
          <c:spPr>
            <a:ln w="28575" cap="rnd">
              <a:solidFill>
                <a:schemeClr val="accent1"/>
              </a:solidFill>
              <a:round/>
            </a:ln>
            <a:effectLst/>
          </c:spPr>
          <c:marker>
            <c:symbol val="none"/>
          </c:marker>
          <c:cat>
            <c:strRef>
              <c:f>'hum vs rentals'!$A$4:$A$65</c:f>
              <c:strCache>
                <c:ptCount val="61"/>
                <c:pt idx="0">
                  <c:v>0.21</c:v>
                </c:pt>
                <c:pt idx="1">
                  <c:v>0.25</c:v>
                </c:pt>
                <c:pt idx="2">
                  <c:v>0.26</c:v>
                </c:pt>
                <c:pt idx="3">
                  <c:v>0.27</c:v>
                </c:pt>
                <c:pt idx="4">
                  <c:v>0.28</c:v>
                </c:pt>
                <c:pt idx="5">
                  <c:v>0.29</c:v>
                </c:pt>
                <c:pt idx="6">
                  <c:v>0.30</c:v>
                </c:pt>
                <c:pt idx="7">
                  <c:v>0.32</c:v>
                </c:pt>
                <c:pt idx="8">
                  <c:v>0.33</c:v>
                </c:pt>
                <c:pt idx="9">
                  <c:v>0.34</c:v>
                </c:pt>
                <c:pt idx="10">
                  <c:v>0.35</c:v>
                </c:pt>
                <c:pt idx="11">
                  <c:v>0.36</c:v>
                </c:pt>
                <c:pt idx="12">
                  <c:v>0.37</c:v>
                </c:pt>
                <c:pt idx="13">
                  <c:v>0.38</c:v>
                </c:pt>
                <c:pt idx="14">
                  <c:v>0.39</c:v>
                </c:pt>
                <c:pt idx="15">
                  <c:v>0.40</c:v>
                </c:pt>
                <c:pt idx="16">
                  <c:v>0.41</c:v>
                </c:pt>
                <c:pt idx="17">
                  <c:v>0.42</c:v>
                </c:pt>
                <c:pt idx="18">
                  <c:v>0.43</c:v>
                </c:pt>
                <c:pt idx="19">
                  <c:v>0.44</c:v>
                </c:pt>
                <c:pt idx="20">
                  <c:v>0.45</c:v>
                </c:pt>
                <c:pt idx="21">
                  <c:v>0.46</c:v>
                </c:pt>
                <c:pt idx="22">
                  <c:v>0.47</c:v>
                </c:pt>
                <c:pt idx="23">
                  <c:v>0.48</c:v>
                </c:pt>
                <c:pt idx="24">
                  <c:v>0.49</c:v>
                </c:pt>
                <c:pt idx="25">
                  <c:v>0.50</c:v>
                </c:pt>
                <c:pt idx="26">
                  <c:v>0.51</c:v>
                </c:pt>
                <c:pt idx="27">
                  <c:v>0.52</c:v>
                </c:pt>
                <c:pt idx="28">
                  <c:v>0.53</c:v>
                </c:pt>
                <c:pt idx="29">
                  <c:v>0.54</c:v>
                </c:pt>
                <c:pt idx="30">
                  <c:v>0.55</c:v>
                </c:pt>
                <c:pt idx="31">
                  <c:v>0.56</c:v>
                </c:pt>
                <c:pt idx="32">
                  <c:v>0.57</c:v>
                </c:pt>
                <c:pt idx="33">
                  <c:v>0.58</c:v>
                </c:pt>
                <c:pt idx="34">
                  <c:v>0.59</c:v>
                </c:pt>
                <c:pt idx="35">
                  <c:v>0.60</c:v>
                </c:pt>
                <c:pt idx="36">
                  <c:v>0.61</c:v>
                </c:pt>
                <c:pt idx="37">
                  <c:v>0.62</c:v>
                </c:pt>
                <c:pt idx="38">
                  <c:v>0.63</c:v>
                </c:pt>
                <c:pt idx="39">
                  <c:v>0.64</c:v>
                </c:pt>
                <c:pt idx="40">
                  <c:v>0.65</c:v>
                </c:pt>
                <c:pt idx="41">
                  <c:v>0.66</c:v>
                </c:pt>
                <c:pt idx="42">
                  <c:v>0.68</c:v>
                </c:pt>
                <c:pt idx="43">
                  <c:v>0.69</c:v>
                </c:pt>
                <c:pt idx="44">
                  <c:v>0.70</c:v>
                </c:pt>
                <c:pt idx="45">
                  <c:v>0.71</c:v>
                </c:pt>
                <c:pt idx="46">
                  <c:v>0.72</c:v>
                </c:pt>
                <c:pt idx="47">
                  <c:v>0.74</c:v>
                </c:pt>
                <c:pt idx="48">
                  <c:v>0.75</c:v>
                </c:pt>
                <c:pt idx="49">
                  <c:v>0.76</c:v>
                </c:pt>
                <c:pt idx="50">
                  <c:v>0.77</c:v>
                </c:pt>
                <c:pt idx="51">
                  <c:v>0.80</c:v>
                </c:pt>
                <c:pt idx="52">
                  <c:v>0.81</c:v>
                </c:pt>
                <c:pt idx="53">
                  <c:v>0.82</c:v>
                </c:pt>
                <c:pt idx="54">
                  <c:v>0.86</c:v>
                </c:pt>
                <c:pt idx="55">
                  <c:v>0.87</c:v>
                </c:pt>
                <c:pt idx="56">
                  <c:v>0.88</c:v>
                </c:pt>
                <c:pt idx="57">
                  <c:v>0.92</c:v>
                </c:pt>
                <c:pt idx="58">
                  <c:v>0.93</c:v>
                </c:pt>
                <c:pt idx="59">
                  <c:v>0.94</c:v>
                </c:pt>
                <c:pt idx="60">
                  <c:v>1.00</c:v>
                </c:pt>
              </c:strCache>
            </c:strRef>
          </c:cat>
          <c:val>
            <c:numRef>
              <c:f>'hum vs rentals'!$B$4:$B$65</c:f>
              <c:numCache>
                <c:formatCode>General</c:formatCode>
                <c:ptCount val="61"/>
                <c:pt idx="0">
                  <c:v>73</c:v>
                </c:pt>
                <c:pt idx="1">
                  <c:v>62</c:v>
                </c:pt>
                <c:pt idx="2">
                  <c:v>282</c:v>
                </c:pt>
                <c:pt idx="3">
                  <c:v>78</c:v>
                </c:pt>
                <c:pt idx="4">
                  <c:v>814</c:v>
                </c:pt>
                <c:pt idx="5">
                  <c:v>76</c:v>
                </c:pt>
                <c:pt idx="6">
                  <c:v>768</c:v>
                </c:pt>
                <c:pt idx="7">
                  <c:v>398</c:v>
                </c:pt>
                <c:pt idx="8">
                  <c:v>340</c:v>
                </c:pt>
                <c:pt idx="9">
                  <c:v>295</c:v>
                </c:pt>
                <c:pt idx="10">
                  <c:v>670</c:v>
                </c:pt>
                <c:pt idx="11">
                  <c:v>587</c:v>
                </c:pt>
                <c:pt idx="12">
                  <c:v>1225</c:v>
                </c:pt>
                <c:pt idx="13">
                  <c:v>1325</c:v>
                </c:pt>
                <c:pt idx="14">
                  <c:v>426</c:v>
                </c:pt>
                <c:pt idx="15">
                  <c:v>1636</c:v>
                </c:pt>
                <c:pt idx="16">
                  <c:v>927</c:v>
                </c:pt>
                <c:pt idx="17">
                  <c:v>480</c:v>
                </c:pt>
                <c:pt idx="18">
                  <c:v>610</c:v>
                </c:pt>
                <c:pt idx="19">
                  <c:v>621</c:v>
                </c:pt>
                <c:pt idx="20">
                  <c:v>795</c:v>
                </c:pt>
                <c:pt idx="21">
                  <c:v>379</c:v>
                </c:pt>
                <c:pt idx="22">
                  <c:v>2469</c:v>
                </c:pt>
                <c:pt idx="23">
                  <c:v>816</c:v>
                </c:pt>
                <c:pt idx="24">
                  <c:v>988</c:v>
                </c:pt>
                <c:pt idx="25">
                  <c:v>1491</c:v>
                </c:pt>
                <c:pt idx="26">
                  <c:v>1996</c:v>
                </c:pt>
                <c:pt idx="27">
                  <c:v>358</c:v>
                </c:pt>
                <c:pt idx="28">
                  <c:v>8</c:v>
                </c:pt>
                <c:pt idx="29">
                  <c:v>354</c:v>
                </c:pt>
                <c:pt idx="30">
                  <c:v>1464</c:v>
                </c:pt>
                <c:pt idx="31">
                  <c:v>740</c:v>
                </c:pt>
                <c:pt idx="32">
                  <c:v>446</c:v>
                </c:pt>
                <c:pt idx="33">
                  <c:v>181</c:v>
                </c:pt>
                <c:pt idx="34">
                  <c:v>1442</c:v>
                </c:pt>
                <c:pt idx="35">
                  <c:v>345</c:v>
                </c:pt>
                <c:pt idx="36">
                  <c:v>161</c:v>
                </c:pt>
                <c:pt idx="37">
                  <c:v>120</c:v>
                </c:pt>
                <c:pt idx="38">
                  <c:v>169</c:v>
                </c:pt>
                <c:pt idx="39">
                  <c:v>559</c:v>
                </c:pt>
                <c:pt idx="40">
                  <c:v>402</c:v>
                </c:pt>
                <c:pt idx="41">
                  <c:v>168</c:v>
                </c:pt>
                <c:pt idx="42">
                  <c:v>162</c:v>
                </c:pt>
                <c:pt idx="43">
                  <c:v>945</c:v>
                </c:pt>
                <c:pt idx="44">
                  <c:v>27</c:v>
                </c:pt>
                <c:pt idx="45">
                  <c:v>154</c:v>
                </c:pt>
                <c:pt idx="46">
                  <c:v>200</c:v>
                </c:pt>
                <c:pt idx="47">
                  <c:v>740</c:v>
                </c:pt>
                <c:pt idx="48">
                  <c:v>40</c:v>
                </c:pt>
                <c:pt idx="49">
                  <c:v>130</c:v>
                </c:pt>
                <c:pt idx="50">
                  <c:v>196</c:v>
                </c:pt>
                <c:pt idx="51">
                  <c:v>577</c:v>
                </c:pt>
                <c:pt idx="52">
                  <c:v>269</c:v>
                </c:pt>
                <c:pt idx="53">
                  <c:v>285</c:v>
                </c:pt>
                <c:pt idx="54">
                  <c:v>700</c:v>
                </c:pt>
                <c:pt idx="55">
                  <c:v>462</c:v>
                </c:pt>
                <c:pt idx="56">
                  <c:v>128</c:v>
                </c:pt>
                <c:pt idx="57">
                  <c:v>90</c:v>
                </c:pt>
                <c:pt idx="58">
                  <c:v>1186</c:v>
                </c:pt>
                <c:pt idx="59">
                  <c:v>54</c:v>
                </c:pt>
                <c:pt idx="60">
                  <c:v>9</c:v>
                </c:pt>
              </c:numCache>
            </c:numRef>
          </c:val>
          <c:smooth val="0"/>
          <c:extLst>
            <c:ext xmlns:c16="http://schemas.microsoft.com/office/drawing/2014/chart" uri="{C3380CC4-5D6E-409C-BE32-E72D297353CC}">
              <c16:uniqueId val="{00000000-9055-482D-BC9D-19FB66AD4636}"/>
            </c:ext>
          </c:extLst>
        </c:ser>
        <c:dLbls>
          <c:showLegendKey val="0"/>
          <c:showVal val="0"/>
          <c:showCatName val="0"/>
          <c:showSerName val="0"/>
          <c:showPercent val="0"/>
          <c:showBubbleSize val="0"/>
        </c:dLbls>
        <c:smooth val="0"/>
        <c:axId val="450155392"/>
        <c:axId val="450159000"/>
      </c:lineChart>
      <c:catAx>
        <c:axId val="450155392"/>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hum</a:t>
                </a:r>
              </a:p>
            </c:rich>
          </c:tx>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0159000"/>
        <c:crosses val="autoZero"/>
        <c:auto val="1"/>
        <c:lblAlgn val="ctr"/>
        <c:lblOffset val="100"/>
        <c:noMultiLvlLbl val="0"/>
      </c:catAx>
      <c:valAx>
        <c:axId val="45015900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Total</a:t>
                </a:r>
                <a:r>
                  <a:rPr lang="en-IN" baseline="0"/>
                  <a:t> Rentals</a:t>
                </a:r>
                <a:endParaRPr lang="en-IN"/>
              </a:p>
            </c:rich>
          </c:tx>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01553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[dataset_3-internship.xlsx]hr vs cnt!PivotTable1</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Rentals by Hour </a:t>
            </a:r>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2"/>
          </a:solidFill>
          <a:ln w="28575" cap="rnd">
            <a:solidFill>
              <a:schemeClr val="accent2"/>
            </a:solidFill>
            <a:round/>
          </a:ln>
          <a:effectLst/>
        </c:spPr>
        <c:marker>
          <c:symbol val="none"/>
        </c:marker>
      </c:pivotFmt>
      <c:pivotFmt>
        <c:idx val="1"/>
        <c:marker>
          <c:spPr>
            <a:solidFill>
              <a:schemeClr val="accent2"/>
            </a:solidFill>
            <a:ln w="9525">
              <a:solidFill>
                <a:schemeClr val="accent2"/>
              </a:solidFill>
            </a:ln>
            <a:effectLst/>
          </c:spPr>
        </c:marker>
      </c:pivotFmt>
      <c:pivotFmt>
        <c:idx val="2"/>
        <c:spPr>
          <a:solidFill>
            <a:schemeClr val="accent2"/>
          </a:solidFill>
          <a:ln w="28575" cap="rnd">
            <a:solidFill>
              <a:schemeClr val="accent2"/>
            </a:solidFill>
            <a:round/>
          </a:ln>
          <a:effectLst/>
        </c:spPr>
        <c:marker>
          <c:symbol val="none"/>
        </c:marker>
      </c:pivotFmt>
      <c:pivotFmt>
        <c:idx val="3"/>
        <c:spPr>
          <a:solidFill>
            <a:schemeClr val="accent2"/>
          </a:solidFill>
          <a:ln w="28575" cap="rnd">
            <a:solidFill>
              <a:schemeClr val="accent2"/>
            </a:solidFill>
            <a:round/>
          </a:ln>
          <a:effectLst/>
        </c:spPr>
        <c:marker>
          <c:symbol val="none"/>
        </c:marker>
      </c:pivotFmt>
      <c:pivotFmt>
        <c:idx val="4"/>
        <c:spPr>
          <a:solidFill>
            <a:schemeClr val="accent2"/>
          </a:solidFill>
          <a:ln w="28575" cap="rnd">
            <a:solidFill>
              <a:schemeClr val="accent2"/>
            </a:solidFill>
            <a:round/>
          </a:ln>
          <a:effectLst/>
        </c:spPr>
        <c:marker>
          <c:symbol val="none"/>
        </c:marker>
      </c:pivotFmt>
    </c:pivotFmts>
    <c:plotArea>
      <c:layout/>
      <c:lineChart>
        <c:grouping val="standard"/>
        <c:varyColors val="0"/>
        <c:ser>
          <c:idx val="0"/>
          <c:order val="0"/>
          <c:tx>
            <c:strRef>
              <c:f>'hr vs cnt'!$B$3</c:f>
              <c:strCache>
                <c:ptCount val="1"/>
                <c:pt idx="0">
                  <c:v>Total</c:v>
                </c:pt>
              </c:strCache>
            </c:strRef>
          </c:tx>
          <c:spPr>
            <a:ln w="28575" cap="rnd">
              <a:solidFill>
                <a:schemeClr val="accent2"/>
              </a:solidFill>
              <a:round/>
            </a:ln>
            <a:effectLst/>
          </c:spPr>
          <c:marker>
            <c:symbol val="none"/>
          </c:marker>
          <c:cat>
            <c:strRef>
              <c:f>'hr vs cnt'!$A$4:$A$28</c:f>
              <c:strCache>
                <c:ptCount val="24"/>
                <c:pt idx="0">
                  <c:v>0.00</c:v>
                </c:pt>
                <c:pt idx="1">
                  <c:v>1.00</c:v>
                </c:pt>
                <c:pt idx="2">
                  <c:v>2.00</c:v>
                </c:pt>
                <c:pt idx="3">
                  <c:v>3.00</c:v>
                </c:pt>
                <c:pt idx="4">
                  <c:v>4.00</c:v>
                </c:pt>
                <c:pt idx="5">
                  <c:v>5.00</c:v>
                </c:pt>
                <c:pt idx="6">
                  <c:v>6.00</c:v>
                </c:pt>
                <c:pt idx="7">
                  <c:v>7.00</c:v>
                </c:pt>
                <c:pt idx="8">
                  <c:v>8.00</c:v>
                </c:pt>
                <c:pt idx="9">
                  <c:v>9.00</c:v>
                </c:pt>
                <c:pt idx="10">
                  <c:v>10.00</c:v>
                </c:pt>
                <c:pt idx="11">
                  <c:v>11.00</c:v>
                </c:pt>
                <c:pt idx="12">
                  <c:v>12.00</c:v>
                </c:pt>
                <c:pt idx="13">
                  <c:v>13.00</c:v>
                </c:pt>
                <c:pt idx="14">
                  <c:v>14.00</c:v>
                </c:pt>
                <c:pt idx="15">
                  <c:v>15.00</c:v>
                </c:pt>
                <c:pt idx="16">
                  <c:v>16.00</c:v>
                </c:pt>
                <c:pt idx="17">
                  <c:v>17.00</c:v>
                </c:pt>
                <c:pt idx="18">
                  <c:v>18.00</c:v>
                </c:pt>
                <c:pt idx="19">
                  <c:v>19.00</c:v>
                </c:pt>
                <c:pt idx="20">
                  <c:v>20.00</c:v>
                </c:pt>
                <c:pt idx="21">
                  <c:v>21.00</c:v>
                </c:pt>
                <c:pt idx="22">
                  <c:v>22.00</c:v>
                </c:pt>
                <c:pt idx="23">
                  <c:v>23.00</c:v>
                </c:pt>
              </c:strCache>
            </c:strRef>
          </c:cat>
          <c:val>
            <c:numRef>
              <c:f>'hr vs cnt'!$B$4:$B$28</c:f>
              <c:numCache>
                <c:formatCode>General</c:formatCode>
                <c:ptCount val="24"/>
                <c:pt idx="0">
                  <c:v>333</c:v>
                </c:pt>
                <c:pt idx="1">
                  <c:v>221</c:v>
                </c:pt>
                <c:pt idx="2">
                  <c:v>124</c:v>
                </c:pt>
                <c:pt idx="3">
                  <c:v>75</c:v>
                </c:pt>
                <c:pt idx="4">
                  <c:v>31</c:v>
                </c:pt>
                <c:pt idx="5">
                  <c:v>69</c:v>
                </c:pt>
                <c:pt idx="6">
                  <c:v>346</c:v>
                </c:pt>
                <c:pt idx="7">
                  <c:v>946</c:v>
                </c:pt>
                <c:pt idx="8">
                  <c:v>2070</c:v>
                </c:pt>
                <c:pt idx="9">
                  <c:v>1476</c:v>
                </c:pt>
                <c:pt idx="10">
                  <c:v>952</c:v>
                </c:pt>
                <c:pt idx="11">
                  <c:v>1039</c:v>
                </c:pt>
                <c:pt idx="12">
                  <c:v>1347</c:v>
                </c:pt>
                <c:pt idx="13">
                  <c:v>1361</c:v>
                </c:pt>
                <c:pt idx="14">
                  <c:v>1373</c:v>
                </c:pt>
                <c:pt idx="15">
                  <c:v>1418</c:v>
                </c:pt>
                <c:pt idx="16">
                  <c:v>1728</c:v>
                </c:pt>
                <c:pt idx="17">
                  <c:v>2619</c:v>
                </c:pt>
                <c:pt idx="18">
                  <c:v>2201</c:v>
                </c:pt>
                <c:pt idx="19">
                  <c:v>1448</c:v>
                </c:pt>
                <c:pt idx="20">
                  <c:v>1115</c:v>
                </c:pt>
                <c:pt idx="21">
                  <c:v>921</c:v>
                </c:pt>
                <c:pt idx="22">
                  <c:v>670</c:v>
                </c:pt>
                <c:pt idx="23">
                  <c:v>523</c:v>
                </c:pt>
              </c:numCache>
            </c:numRef>
          </c:val>
          <c:smooth val="0"/>
          <c:extLst>
            <c:ext xmlns:c16="http://schemas.microsoft.com/office/drawing/2014/chart" uri="{C3380CC4-5D6E-409C-BE32-E72D297353CC}">
              <c16:uniqueId val="{00000000-BFF0-4BFE-B7F4-8F2E60A54BAD}"/>
            </c:ext>
          </c:extLst>
        </c:ser>
        <c:dLbls>
          <c:showLegendKey val="0"/>
          <c:showVal val="0"/>
          <c:showCatName val="0"/>
          <c:showSerName val="0"/>
          <c:showPercent val="0"/>
          <c:showBubbleSize val="0"/>
        </c:dLbls>
        <c:smooth val="0"/>
        <c:axId val="531640256"/>
        <c:axId val="531642880"/>
      </c:lineChart>
      <c:catAx>
        <c:axId val="531640256"/>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Hour of</a:t>
                </a:r>
                <a:r>
                  <a:rPr lang="en-IN" baseline="0"/>
                  <a:t> the day</a:t>
                </a:r>
                <a:endParaRPr lang="en-IN"/>
              </a:p>
            </c:rich>
          </c:tx>
          <c:layou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1642880"/>
        <c:crosses val="autoZero"/>
        <c:auto val="1"/>
        <c:lblAlgn val="ctr"/>
        <c:lblOffset val="100"/>
        <c:noMultiLvlLbl val="0"/>
      </c:catAx>
      <c:valAx>
        <c:axId val="531642880"/>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Total</a:t>
                </a:r>
                <a:r>
                  <a:rPr lang="en-IN" baseline="0"/>
                  <a:t> Bike Renatls</a:t>
                </a:r>
                <a:endParaRPr lang="en-IN"/>
              </a:p>
            </c:rich>
          </c:tx>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1640256"/>
        <c:crosses val="autoZero"/>
        <c:crossBetween val="between"/>
      </c:valAx>
      <c:spPr>
        <a:noFill/>
        <a:ln>
          <a:noFill/>
        </a:ln>
        <a:effectLst>
          <a:softEdge rad="12700"/>
        </a:effectLst>
      </c:spPr>
    </c:plotArea>
    <c:plotVisOnly val="1"/>
    <c:dispBlanksAs val="gap"/>
    <c:showDLblsOverMax val="0"/>
  </c:chart>
  <c:spPr>
    <a:solidFill>
      <a:schemeClr val="bg1"/>
    </a:solidFill>
    <a:ln w="9525" cap="flat" cmpd="sng" algn="ctr">
      <a:solidFill>
        <a:schemeClr val="tx1">
          <a:lumMod val="15000"/>
          <a:lumOff val="85000"/>
        </a:schemeClr>
      </a:solidFill>
      <a:round/>
    </a:ln>
    <a:effectLst>
      <a:softEdge rad="0"/>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5"/>
    </mc:Choice>
    <mc:Fallback>
      <c:style val="5"/>
    </mc:Fallback>
  </mc:AlternateContent>
  <c:pivotSource>
    <c:name>[dataset_3-internship.xlsx]days vs registered users!PivotTable1</c:name>
    <c:fmtId val="3"/>
  </c:pivotSource>
  <c:chart>
    <c:title>
      <c:tx>
        <c:rich>
          <a:bodyPr rot="0" spcFirstLastPara="1" vertOverflow="ellipsis" vert="horz" wrap="square" anchor="ctr" anchorCtr="1"/>
          <a:lstStyle/>
          <a:p>
            <a:pPr>
              <a:defRPr b="0" i="0" u="none" strike="noStrike" kern="1200" baseline="0">
                <a:solidFill>
                  <a:schemeClr val="dk1">
                    <a:lumMod val="65000"/>
                    <a:lumOff val="35000"/>
                  </a:schemeClr>
                </a:solidFill>
                <a:effectLst/>
                <a:latin typeface="+mn-lt"/>
                <a:ea typeface="+mn-ea"/>
                <a:cs typeface="+mn-cs"/>
              </a:defRPr>
            </a:pPr>
            <a:r>
              <a:rPr lang="en-IN"/>
              <a:t>Usage of bikes by registered users on days </a:t>
            </a:r>
          </a:p>
        </c:rich>
      </c:tx>
      <c:layout/>
      <c:overlay val="0"/>
      <c:spPr>
        <a:noFill/>
        <a:ln>
          <a:noFill/>
        </a:ln>
        <a:effectLst/>
      </c:spPr>
      <c:txPr>
        <a:bodyPr rot="0" spcFirstLastPara="1" vertOverflow="ellipsis" vert="horz" wrap="square" anchor="ctr" anchorCtr="1"/>
        <a:lstStyle/>
        <a:p>
          <a:pPr>
            <a:defRPr b="0" i="0" u="none" strike="noStrike" kern="1200" baseline="0">
              <a:solidFill>
                <a:schemeClr val="dk1">
                  <a:lumMod val="65000"/>
                  <a:lumOff val="35000"/>
                </a:schemeClr>
              </a:solidFill>
              <a:effectLst/>
              <a:latin typeface="+mn-lt"/>
              <a:ea typeface="+mn-ea"/>
              <a:cs typeface="+mn-cs"/>
            </a:defRPr>
          </a:pPr>
          <a:endParaRPr lang="en-US"/>
        </a:p>
      </c:txPr>
    </c:title>
    <c:autoTitleDeleted val="0"/>
    <c:pivotFmts>
      <c:pivotFmt>
        <c:idx val="0"/>
      </c:pivotFmt>
      <c:pivotFmt>
        <c:idx val="1"/>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marker>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marker>
        <c:dLbl>
          <c:idx val="0"/>
          <c:dLblPos val="inEnd"/>
          <c:showLegendKey val="0"/>
          <c:showVal val="1"/>
          <c:showCatName val="0"/>
          <c:showSerName val="0"/>
          <c:showPercent val="0"/>
          <c:showBubbleSize val="0"/>
          <c:extLst>
            <c:ext xmlns:c15="http://schemas.microsoft.com/office/drawing/2012/chart" uri="{CE6537A1-D6FC-4f65-9D91-7224C49458BB}"/>
          </c:extLst>
        </c:dLbl>
      </c:pivotFmt>
      <c:pivotFmt>
        <c:idx val="2"/>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3"/>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4"/>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'days vs registered users'!$B$3</c:f>
              <c:strCache>
                <c:ptCount val="1"/>
                <c:pt idx="0">
                  <c:v>Total</c:v>
                </c:pt>
              </c:strCache>
            </c:strRef>
          </c:tx>
          <c:spPr>
            <a:gradFill>
              <a:gsLst>
                <a:gs pos="0">
                  <a:schemeClr val="accent3"/>
                </a:gs>
                <a:gs pos="100000">
                  <a:schemeClr val="accent3">
                    <a:lumMod val="84000"/>
                  </a:schemeClr>
                </a:gs>
              </a:gsLst>
              <a:lin ang="5400000" scaled="1"/>
            </a:gradFill>
            <a:ln>
              <a:noFill/>
            </a:ln>
            <a:effectLst>
              <a:outerShdw blurRad="76200" dir="18900000" sy="23000" kx="-1200000" algn="bl" rotWithShape="0">
                <a:prstClr val="black">
                  <a:alpha val="20000"/>
                </a:prst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'days vs registered users'!$A$4:$A$11</c:f>
              <c:strCache>
                <c:ptCount val="7"/>
                <c:pt idx="0">
                  <c:v>Sunday</c:v>
                </c:pt>
                <c:pt idx="1">
                  <c:v>Monday</c:v>
                </c:pt>
                <c:pt idx="2">
                  <c:v>Tuesday</c:v>
                </c:pt>
                <c:pt idx="3">
                  <c:v>Wednesday</c:v>
                </c:pt>
                <c:pt idx="4">
                  <c:v>Thursday</c:v>
                </c:pt>
                <c:pt idx="5">
                  <c:v>Friday</c:v>
                </c:pt>
                <c:pt idx="6">
                  <c:v>Satuday</c:v>
                </c:pt>
              </c:strCache>
            </c:strRef>
          </c:cat>
          <c:val>
            <c:numRef>
              <c:f>'days vs registered users'!$B$4:$B$11</c:f>
              <c:numCache>
                <c:formatCode>General</c:formatCode>
                <c:ptCount val="7"/>
                <c:pt idx="0">
                  <c:v>3417</c:v>
                </c:pt>
                <c:pt idx="1">
                  <c:v>3194</c:v>
                </c:pt>
                <c:pt idx="2">
                  <c:v>2779</c:v>
                </c:pt>
                <c:pt idx="3">
                  <c:v>3006</c:v>
                </c:pt>
                <c:pt idx="4">
                  <c:v>2980</c:v>
                </c:pt>
                <c:pt idx="5">
                  <c:v>3791</c:v>
                </c:pt>
                <c:pt idx="6">
                  <c:v>3064</c:v>
                </c:pt>
              </c:numCache>
            </c:numRef>
          </c:val>
          <c:extLst>
            <c:ext xmlns:c16="http://schemas.microsoft.com/office/drawing/2014/chart" uri="{C3380CC4-5D6E-409C-BE32-E72D297353CC}">
              <c16:uniqueId val="{00000000-BFE3-4EAE-AF74-B086A4F675EF}"/>
            </c:ext>
          </c:extLst>
        </c:ser>
        <c:dLbls>
          <c:dLblPos val="inEnd"/>
          <c:showLegendKey val="0"/>
          <c:showVal val="1"/>
          <c:showCatName val="0"/>
          <c:showSerName val="0"/>
          <c:showPercent val="0"/>
          <c:showBubbleSize val="0"/>
        </c:dLbls>
        <c:gapWidth val="41"/>
        <c:axId val="539909008"/>
        <c:axId val="539908352"/>
      </c:barChart>
      <c:catAx>
        <c:axId val="539909008"/>
        <c:scaling>
          <c:orientation val="minMax"/>
        </c:scaling>
        <c:delete val="0"/>
        <c:axPos val="b"/>
        <c:title>
          <c:tx>
            <c:rich>
              <a:bodyPr rot="0" spcFirstLastPara="1" vertOverflow="ellipsis" vert="horz" wrap="square" anchor="ctr" anchorCtr="1"/>
              <a:lstStyle/>
              <a:p>
                <a:pPr>
                  <a:defRPr sz="900" b="1" i="0" u="none" strike="noStrike" kern="1200" baseline="0">
                    <a:solidFill>
                      <a:schemeClr val="dk1">
                        <a:lumMod val="65000"/>
                        <a:lumOff val="35000"/>
                      </a:schemeClr>
                    </a:solidFill>
                    <a:latin typeface="+mn-lt"/>
                    <a:ea typeface="+mn-ea"/>
                    <a:cs typeface="+mn-cs"/>
                  </a:defRPr>
                </a:pPr>
                <a:r>
                  <a:rPr lang="en-IN"/>
                  <a:t>Weekdays</a:t>
                </a:r>
              </a:p>
            </c:rich>
          </c:tx>
          <c:layout/>
          <c:overlay val="0"/>
          <c:spPr>
            <a:noFill/>
            <a:ln>
              <a:noFill/>
            </a:ln>
            <a:effectLst/>
          </c:spPr>
          <c:txPr>
            <a:bodyPr rot="0" spcFirstLastPara="1" vertOverflow="ellipsis" vert="horz" wrap="square" anchor="ctr" anchorCtr="1"/>
            <a:lstStyle/>
            <a:p>
              <a:pPr>
                <a:defRPr sz="900" b="1" i="0" u="none" strike="noStrike" kern="1200" baseline="0">
                  <a:solidFill>
                    <a:schemeClr val="dk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dk1">
                    <a:lumMod val="65000"/>
                    <a:lumOff val="35000"/>
                  </a:schemeClr>
                </a:solidFill>
                <a:effectLst/>
                <a:latin typeface="+mn-lt"/>
                <a:ea typeface="+mn-ea"/>
                <a:cs typeface="+mn-cs"/>
              </a:defRPr>
            </a:pPr>
            <a:endParaRPr lang="en-US"/>
          </a:p>
        </c:txPr>
        <c:crossAx val="539908352"/>
        <c:crosses val="autoZero"/>
        <c:auto val="1"/>
        <c:lblAlgn val="ctr"/>
        <c:lblOffset val="100"/>
        <c:noMultiLvlLbl val="0"/>
      </c:catAx>
      <c:valAx>
        <c:axId val="539908352"/>
        <c:scaling>
          <c:orientation val="minMax"/>
        </c:scaling>
        <c:delete val="1"/>
        <c:axPos val="l"/>
        <c:title>
          <c:tx>
            <c:rich>
              <a:bodyPr rot="-5400000" spcFirstLastPara="1" vertOverflow="ellipsis" vert="horz" wrap="square" anchor="ctr" anchorCtr="1"/>
              <a:lstStyle/>
              <a:p>
                <a:pPr>
                  <a:defRPr sz="900" b="1" i="0" u="none" strike="noStrike" kern="1200" baseline="0">
                    <a:solidFill>
                      <a:schemeClr val="dk1">
                        <a:lumMod val="65000"/>
                        <a:lumOff val="35000"/>
                      </a:schemeClr>
                    </a:solidFill>
                    <a:latin typeface="+mn-lt"/>
                    <a:ea typeface="+mn-ea"/>
                    <a:cs typeface="+mn-cs"/>
                  </a:defRPr>
                </a:pPr>
                <a:r>
                  <a:rPr lang="en-IN"/>
                  <a:t>Total registered users</a:t>
                </a:r>
              </a:p>
            </c:rich>
          </c:tx>
          <c:layout/>
          <c:overlay val="0"/>
          <c:spPr>
            <a:noFill/>
            <a:ln>
              <a:noFill/>
            </a:ln>
            <a:effectLst/>
          </c:spPr>
          <c:txPr>
            <a:bodyPr rot="-5400000" spcFirstLastPara="1" vertOverflow="ellipsis" vert="horz" wrap="square" anchor="ctr" anchorCtr="1"/>
            <a:lstStyle/>
            <a:p>
              <a:pPr>
                <a:defRPr sz="900" b="1" i="0" u="none" strike="noStrike" kern="1200" baseline="0">
                  <a:solidFill>
                    <a:schemeClr val="dk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539909008"/>
        <c:crosses val="autoZero"/>
        <c:crossBetween val="between"/>
      </c:valAx>
      <c:spPr>
        <a:noFill/>
        <a:ln>
          <a:noFill/>
        </a:ln>
        <a:effectLst/>
      </c:spPr>
    </c:plotArea>
    <c:plotVisOnly val="1"/>
    <c:dispBlanksAs val="gap"/>
    <c:showDLblsOverMax val="0"/>
  </c:chart>
  <c: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Forecast</a:t>
            </a:r>
            <a:r>
              <a:rPr lang="en-IN" baseline="0"/>
              <a:t> of future rentals</a:t>
            </a:r>
            <a:endParaRPr lang="en-IN"/>
          </a:p>
        </c:rich>
      </c:tx>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'Forecast sheet'!$B$1</c:f>
              <c:strCache>
                <c:ptCount val="1"/>
                <c:pt idx="0">
                  <c:v>cnt</c:v>
                </c:pt>
              </c:strCache>
            </c:strRef>
          </c:tx>
          <c:spPr>
            <a:ln w="28575" cap="rnd">
              <a:solidFill>
                <a:schemeClr val="accent1"/>
              </a:solidFill>
              <a:round/>
            </a:ln>
            <a:effectLst/>
          </c:spPr>
          <c:marker>
            <c:symbol val="none"/>
          </c:marker>
          <c:val>
            <c:numRef>
              <c:f>'Forecast sheet'!$B$2:$B$58</c:f>
              <c:numCache>
                <c:formatCode>General</c:formatCode>
                <c:ptCount val="57"/>
                <c:pt idx="0">
                  <c:v>41.041666666666664</c:v>
                </c:pt>
                <c:pt idx="1">
                  <c:v>34.826086956521742</c:v>
                </c:pt>
                <c:pt idx="2">
                  <c:v>61.31818181818182</c:v>
                </c:pt>
                <c:pt idx="3">
                  <c:v>67.913043478260875</c:v>
                </c:pt>
                <c:pt idx="4">
                  <c:v>69.565217391304344</c:v>
                </c:pt>
                <c:pt idx="5">
                  <c:v>69.826086956521735</c:v>
                </c:pt>
                <c:pt idx="6">
                  <c:v>65.652173913043484</c:v>
                </c:pt>
                <c:pt idx="7">
                  <c:v>39.958333333333336</c:v>
                </c:pt>
                <c:pt idx="8">
                  <c:v>34.25</c:v>
                </c:pt>
                <c:pt idx="9">
                  <c:v>55.041666666666664</c:v>
                </c:pt>
                <c:pt idx="10">
                  <c:v>57.409090909090907</c:v>
                </c:pt>
                <c:pt idx="11">
                  <c:v>52.81818181818182</c:v>
                </c:pt>
                <c:pt idx="12">
                  <c:v>58.583333333333336</c:v>
                </c:pt>
                <c:pt idx="13">
                  <c:v>61.782608695652172</c:v>
                </c:pt>
                <c:pt idx="14">
                  <c:v>52</c:v>
                </c:pt>
                <c:pt idx="15">
                  <c:v>50.166666666666664</c:v>
                </c:pt>
                <c:pt idx="16">
                  <c:v>41.666666666666664</c:v>
                </c:pt>
                <c:pt idx="17">
                  <c:v>56.916666666666664</c:v>
                </c:pt>
                <c:pt idx="18">
                  <c:v>71.739130434782609</c:v>
                </c:pt>
                <c:pt idx="19">
                  <c:v>80.291666666666671</c:v>
                </c:pt>
                <c:pt idx="20">
                  <c:v>64.291666666666671</c:v>
                </c:pt>
                <c:pt idx="21">
                  <c:v>42.652173913043477</c:v>
                </c:pt>
                <c:pt idx="22">
                  <c:v>42.869565217391305</c:v>
                </c:pt>
                <c:pt idx="23">
                  <c:v>61.565217391304351</c:v>
                </c:pt>
                <c:pt idx="24">
                  <c:v>86.304347826086953</c:v>
                </c:pt>
                <c:pt idx="25">
                  <c:v>31.625</c:v>
                </c:pt>
                <c:pt idx="26">
                  <c:v>53.875</c:v>
                </c:pt>
                <c:pt idx="27">
                  <c:v>50.739130434782609</c:v>
                </c:pt>
                <c:pt idx="28">
                  <c:v>47.739130434782609</c:v>
                </c:pt>
                <c:pt idx="29">
                  <c:v>47.652173913043477</c:v>
                </c:pt>
                <c:pt idx="30">
                  <c:v>62.541666666666664</c:v>
                </c:pt>
                <c:pt idx="31">
                  <c:v>59.130434782608695</c:v>
                </c:pt>
                <c:pt idx="32">
                  <c:v>63.583333333333336</c:v>
                </c:pt>
                <c:pt idx="33">
                  <c:v>67.391304347826093</c:v>
                </c:pt>
                <c:pt idx="34">
                  <c:v>74.260869565217391</c:v>
                </c:pt>
                <c:pt idx="35">
                  <c:v>41.875</c:v>
                </c:pt>
                <c:pt idx="36">
                  <c:v>67.625</c:v>
                </c:pt>
                <c:pt idx="37">
                  <c:v>71.333333333333329</c:v>
                </c:pt>
                <c:pt idx="38">
                  <c:v>63.75</c:v>
                </c:pt>
                <c:pt idx="39">
                  <c:v>69.782608695652172</c:v>
                </c:pt>
                <c:pt idx="40">
                  <c:v>66.869565217391298</c:v>
                </c:pt>
                <c:pt idx="41">
                  <c:v>79.36363636363636</c:v>
                </c:pt>
                <c:pt idx="42">
                  <c:v>61.333333333333336</c:v>
                </c:pt>
                <c:pt idx="43">
                  <c:v>69.086956521739125</c:v>
                </c:pt>
                <c:pt idx="44">
                  <c:v>18.875</c:v>
                </c:pt>
              </c:numCache>
            </c:numRef>
          </c:val>
          <c:smooth val="0"/>
          <c:extLst>
            <c:ext xmlns:c16="http://schemas.microsoft.com/office/drawing/2014/chart" uri="{C3380CC4-5D6E-409C-BE32-E72D297353CC}">
              <c16:uniqueId val="{00000000-6FA5-4F1C-9975-9D352A239154}"/>
            </c:ext>
          </c:extLst>
        </c:ser>
        <c:ser>
          <c:idx val="1"/>
          <c:order val="1"/>
          <c:tx>
            <c:strRef>
              <c:f>'Forecast sheet'!$C$1</c:f>
              <c:strCache>
                <c:ptCount val="1"/>
                <c:pt idx="0">
                  <c:v>Forecast(cnt)</c:v>
                </c:pt>
              </c:strCache>
            </c:strRef>
          </c:tx>
          <c:spPr>
            <a:ln w="25400" cap="rnd">
              <a:solidFill>
                <a:schemeClr val="accent2"/>
              </a:solidFill>
              <a:round/>
            </a:ln>
            <a:effectLst/>
          </c:spPr>
          <c:marker>
            <c:symbol val="none"/>
          </c:marker>
          <c:cat>
            <c:numRef>
              <c:f>'Forecast sheet'!$A$2:$A$58</c:f>
              <c:numCache>
                <c:formatCode>m/d/yyyy</c:formatCode>
                <c:ptCount val="57"/>
                <c:pt idx="0">
                  <c:v>40544</c:v>
                </c:pt>
                <c:pt idx="1">
                  <c:v>40545</c:v>
                </c:pt>
                <c:pt idx="2">
                  <c:v>40546</c:v>
                </c:pt>
                <c:pt idx="3">
                  <c:v>40547</c:v>
                </c:pt>
                <c:pt idx="4">
                  <c:v>40548</c:v>
                </c:pt>
                <c:pt idx="5">
                  <c:v>40549</c:v>
                </c:pt>
                <c:pt idx="6">
                  <c:v>40550</c:v>
                </c:pt>
                <c:pt idx="7">
                  <c:v>40551</c:v>
                </c:pt>
                <c:pt idx="8">
                  <c:v>40552</c:v>
                </c:pt>
                <c:pt idx="9">
                  <c:v>40553</c:v>
                </c:pt>
                <c:pt idx="10">
                  <c:v>40554</c:v>
                </c:pt>
                <c:pt idx="11">
                  <c:v>40555</c:v>
                </c:pt>
                <c:pt idx="12">
                  <c:v>40556</c:v>
                </c:pt>
                <c:pt idx="13">
                  <c:v>40557</c:v>
                </c:pt>
                <c:pt idx="14">
                  <c:v>40558</c:v>
                </c:pt>
                <c:pt idx="15">
                  <c:v>40559</c:v>
                </c:pt>
                <c:pt idx="16">
                  <c:v>40560</c:v>
                </c:pt>
                <c:pt idx="17">
                  <c:v>40561</c:v>
                </c:pt>
                <c:pt idx="18">
                  <c:v>40562</c:v>
                </c:pt>
                <c:pt idx="19">
                  <c:v>40563</c:v>
                </c:pt>
                <c:pt idx="20">
                  <c:v>40564</c:v>
                </c:pt>
                <c:pt idx="21">
                  <c:v>40565</c:v>
                </c:pt>
                <c:pt idx="22">
                  <c:v>40566</c:v>
                </c:pt>
                <c:pt idx="23">
                  <c:v>40567</c:v>
                </c:pt>
                <c:pt idx="24">
                  <c:v>40568</c:v>
                </c:pt>
                <c:pt idx="25">
                  <c:v>40569</c:v>
                </c:pt>
                <c:pt idx="26">
                  <c:v>40570</c:v>
                </c:pt>
                <c:pt idx="27">
                  <c:v>40571</c:v>
                </c:pt>
                <c:pt idx="28">
                  <c:v>40572</c:v>
                </c:pt>
                <c:pt idx="29">
                  <c:v>40573</c:v>
                </c:pt>
                <c:pt idx="30">
                  <c:v>40574</c:v>
                </c:pt>
                <c:pt idx="31">
                  <c:v>40575</c:v>
                </c:pt>
                <c:pt idx="32">
                  <c:v>40576</c:v>
                </c:pt>
                <c:pt idx="33">
                  <c:v>40577</c:v>
                </c:pt>
                <c:pt idx="34">
                  <c:v>40578</c:v>
                </c:pt>
                <c:pt idx="35">
                  <c:v>40579</c:v>
                </c:pt>
                <c:pt idx="36">
                  <c:v>40580</c:v>
                </c:pt>
                <c:pt idx="37">
                  <c:v>40581</c:v>
                </c:pt>
                <c:pt idx="38">
                  <c:v>40582</c:v>
                </c:pt>
                <c:pt idx="39">
                  <c:v>40583</c:v>
                </c:pt>
                <c:pt idx="40">
                  <c:v>40584</c:v>
                </c:pt>
                <c:pt idx="41">
                  <c:v>40585</c:v>
                </c:pt>
                <c:pt idx="42">
                  <c:v>40586</c:v>
                </c:pt>
                <c:pt idx="43">
                  <c:v>40587</c:v>
                </c:pt>
                <c:pt idx="44">
                  <c:v>40588</c:v>
                </c:pt>
                <c:pt idx="45">
                  <c:v>40589</c:v>
                </c:pt>
                <c:pt idx="46">
                  <c:v>40590</c:v>
                </c:pt>
                <c:pt idx="47">
                  <c:v>40591</c:v>
                </c:pt>
                <c:pt idx="48">
                  <c:v>40592</c:v>
                </c:pt>
                <c:pt idx="49">
                  <c:v>40593</c:v>
                </c:pt>
                <c:pt idx="50">
                  <c:v>40594</c:v>
                </c:pt>
                <c:pt idx="51">
                  <c:v>40595</c:v>
                </c:pt>
                <c:pt idx="52">
                  <c:v>40596</c:v>
                </c:pt>
                <c:pt idx="53">
                  <c:v>40597</c:v>
                </c:pt>
                <c:pt idx="54">
                  <c:v>40598</c:v>
                </c:pt>
                <c:pt idx="55">
                  <c:v>40599</c:v>
                </c:pt>
                <c:pt idx="56">
                  <c:v>40600</c:v>
                </c:pt>
              </c:numCache>
            </c:numRef>
          </c:cat>
          <c:val>
            <c:numRef>
              <c:f>'Forecast sheet'!$C$2:$C$58</c:f>
              <c:numCache>
                <c:formatCode>General</c:formatCode>
                <c:ptCount val="57"/>
                <c:pt idx="44">
                  <c:v>18.875</c:v>
                </c:pt>
                <c:pt idx="45">
                  <c:v>61.270134143024279</c:v>
                </c:pt>
                <c:pt idx="46">
                  <c:v>61.525827765725516</c:v>
                </c:pt>
                <c:pt idx="47">
                  <c:v>61.781521388426746</c:v>
                </c:pt>
                <c:pt idx="48">
                  <c:v>62.037215011127984</c:v>
                </c:pt>
                <c:pt idx="49">
                  <c:v>62.292908633829221</c:v>
                </c:pt>
                <c:pt idx="50">
                  <c:v>62.548602256530458</c:v>
                </c:pt>
                <c:pt idx="51">
                  <c:v>62.804295879231688</c:v>
                </c:pt>
                <c:pt idx="52">
                  <c:v>63.059989501932925</c:v>
                </c:pt>
                <c:pt idx="53">
                  <c:v>63.315683124634162</c:v>
                </c:pt>
                <c:pt idx="54">
                  <c:v>63.5713767473354</c:v>
                </c:pt>
                <c:pt idx="55">
                  <c:v>63.827070370036637</c:v>
                </c:pt>
                <c:pt idx="56">
                  <c:v>64.082763992737867</c:v>
                </c:pt>
              </c:numCache>
            </c:numRef>
          </c:val>
          <c:smooth val="0"/>
          <c:extLst>
            <c:ext xmlns:c16="http://schemas.microsoft.com/office/drawing/2014/chart" uri="{C3380CC4-5D6E-409C-BE32-E72D297353CC}">
              <c16:uniqueId val="{00000001-6FA5-4F1C-9975-9D352A239154}"/>
            </c:ext>
          </c:extLst>
        </c:ser>
        <c:ser>
          <c:idx val="2"/>
          <c:order val="2"/>
          <c:tx>
            <c:strRef>
              <c:f>'Forecast sheet'!$D$1</c:f>
              <c:strCache>
                <c:ptCount val="1"/>
                <c:pt idx="0">
                  <c:v>Lower Confidence Bound(cnt)</c:v>
                </c:pt>
              </c:strCache>
            </c:strRef>
          </c:tx>
          <c:spPr>
            <a:ln w="12700" cap="rnd">
              <a:solidFill>
                <a:srgbClr val="ED7D31"/>
              </a:solidFill>
              <a:prstDash val="solid"/>
              <a:round/>
            </a:ln>
            <a:effectLst/>
          </c:spPr>
          <c:marker>
            <c:symbol val="none"/>
          </c:marker>
          <c:cat>
            <c:numRef>
              <c:f>'Forecast sheet'!$A$2:$A$58</c:f>
              <c:numCache>
                <c:formatCode>m/d/yyyy</c:formatCode>
                <c:ptCount val="57"/>
                <c:pt idx="0">
                  <c:v>40544</c:v>
                </c:pt>
                <c:pt idx="1">
                  <c:v>40545</c:v>
                </c:pt>
                <c:pt idx="2">
                  <c:v>40546</c:v>
                </c:pt>
                <c:pt idx="3">
                  <c:v>40547</c:v>
                </c:pt>
                <c:pt idx="4">
                  <c:v>40548</c:v>
                </c:pt>
                <c:pt idx="5">
                  <c:v>40549</c:v>
                </c:pt>
                <c:pt idx="6">
                  <c:v>40550</c:v>
                </c:pt>
                <c:pt idx="7">
                  <c:v>40551</c:v>
                </c:pt>
                <c:pt idx="8">
                  <c:v>40552</c:v>
                </c:pt>
                <c:pt idx="9">
                  <c:v>40553</c:v>
                </c:pt>
                <c:pt idx="10">
                  <c:v>40554</c:v>
                </c:pt>
                <c:pt idx="11">
                  <c:v>40555</c:v>
                </c:pt>
                <c:pt idx="12">
                  <c:v>40556</c:v>
                </c:pt>
                <c:pt idx="13">
                  <c:v>40557</c:v>
                </c:pt>
                <c:pt idx="14">
                  <c:v>40558</c:v>
                </c:pt>
                <c:pt idx="15">
                  <c:v>40559</c:v>
                </c:pt>
                <c:pt idx="16">
                  <c:v>40560</c:v>
                </c:pt>
                <c:pt idx="17">
                  <c:v>40561</c:v>
                </c:pt>
                <c:pt idx="18">
                  <c:v>40562</c:v>
                </c:pt>
                <c:pt idx="19">
                  <c:v>40563</c:v>
                </c:pt>
                <c:pt idx="20">
                  <c:v>40564</c:v>
                </c:pt>
                <c:pt idx="21">
                  <c:v>40565</c:v>
                </c:pt>
                <c:pt idx="22">
                  <c:v>40566</c:v>
                </c:pt>
                <c:pt idx="23">
                  <c:v>40567</c:v>
                </c:pt>
                <c:pt idx="24">
                  <c:v>40568</c:v>
                </c:pt>
                <c:pt idx="25">
                  <c:v>40569</c:v>
                </c:pt>
                <c:pt idx="26">
                  <c:v>40570</c:v>
                </c:pt>
                <c:pt idx="27">
                  <c:v>40571</c:v>
                </c:pt>
                <c:pt idx="28">
                  <c:v>40572</c:v>
                </c:pt>
                <c:pt idx="29">
                  <c:v>40573</c:v>
                </c:pt>
                <c:pt idx="30">
                  <c:v>40574</c:v>
                </c:pt>
                <c:pt idx="31">
                  <c:v>40575</c:v>
                </c:pt>
                <c:pt idx="32">
                  <c:v>40576</c:v>
                </c:pt>
                <c:pt idx="33">
                  <c:v>40577</c:v>
                </c:pt>
                <c:pt idx="34">
                  <c:v>40578</c:v>
                </c:pt>
                <c:pt idx="35">
                  <c:v>40579</c:v>
                </c:pt>
                <c:pt idx="36">
                  <c:v>40580</c:v>
                </c:pt>
                <c:pt idx="37">
                  <c:v>40581</c:v>
                </c:pt>
                <c:pt idx="38">
                  <c:v>40582</c:v>
                </c:pt>
                <c:pt idx="39">
                  <c:v>40583</c:v>
                </c:pt>
                <c:pt idx="40">
                  <c:v>40584</c:v>
                </c:pt>
                <c:pt idx="41">
                  <c:v>40585</c:v>
                </c:pt>
                <c:pt idx="42">
                  <c:v>40586</c:v>
                </c:pt>
                <c:pt idx="43">
                  <c:v>40587</c:v>
                </c:pt>
                <c:pt idx="44">
                  <c:v>40588</c:v>
                </c:pt>
                <c:pt idx="45">
                  <c:v>40589</c:v>
                </c:pt>
                <c:pt idx="46">
                  <c:v>40590</c:v>
                </c:pt>
                <c:pt idx="47">
                  <c:v>40591</c:v>
                </c:pt>
                <c:pt idx="48">
                  <c:v>40592</c:v>
                </c:pt>
                <c:pt idx="49">
                  <c:v>40593</c:v>
                </c:pt>
                <c:pt idx="50">
                  <c:v>40594</c:v>
                </c:pt>
                <c:pt idx="51">
                  <c:v>40595</c:v>
                </c:pt>
                <c:pt idx="52">
                  <c:v>40596</c:v>
                </c:pt>
                <c:pt idx="53">
                  <c:v>40597</c:v>
                </c:pt>
                <c:pt idx="54">
                  <c:v>40598</c:v>
                </c:pt>
                <c:pt idx="55">
                  <c:v>40599</c:v>
                </c:pt>
                <c:pt idx="56">
                  <c:v>40600</c:v>
                </c:pt>
              </c:numCache>
            </c:numRef>
          </c:cat>
          <c:val>
            <c:numRef>
              <c:f>'Forecast sheet'!$D$2:$D$58</c:f>
              <c:numCache>
                <c:formatCode>General</c:formatCode>
                <c:ptCount val="57"/>
                <c:pt idx="44" formatCode="0.00">
                  <c:v>18.875</c:v>
                </c:pt>
                <c:pt idx="45" formatCode="0.00">
                  <c:v>31.858655883675784</c:v>
                </c:pt>
                <c:pt idx="46" formatCode="0.00">
                  <c:v>31.878109408718345</c:v>
                </c:pt>
                <c:pt idx="47" formatCode="0.00">
                  <c:v>31.895739851191895</c:v>
                </c:pt>
                <c:pt idx="48" formatCode="0.00">
                  <c:v>31.911561716718598</c:v>
                </c:pt>
                <c:pt idx="49" formatCode="0.00">
                  <c:v>31.925589377473688</c:v>
                </c:pt>
                <c:pt idx="50" formatCode="0.00">
                  <c:v>31.937837068955986</c:v>
                </c:pt>
                <c:pt idx="51" formatCode="0.00">
                  <c:v>31.948318887095059</c:v>
                </c:pt>
                <c:pt idx="52" formatCode="0.00">
                  <c:v>31.95704878567814</c:v>
                </c:pt>
                <c:pt idx="53" formatCode="0.00">
                  <c:v>31.964040574080091</c:v>
                </c:pt>
                <c:pt idx="54" formatCode="0.00">
                  <c:v>31.969307915280588</c:v>
                </c:pt>
                <c:pt idx="55" formatCode="0.00">
                  <c:v>31.972864324152855</c:v>
                </c:pt>
                <c:pt idx="56" formatCode="0.00">
                  <c:v>31.974723166009028</c:v>
                </c:pt>
              </c:numCache>
            </c:numRef>
          </c:val>
          <c:smooth val="0"/>
          <c:extLst>
            <c:ext xmlns:c16="http://schemas.microsoft.com/office/drawing/2014/chart" uri="{C3380CC4-5D6E-409C-BE32-E72D297353CC}">
              <c16:uniqueId val="{00000002-6FA5-4F1C-9975-9D352A239154}"/>
            </c:ext>
          </c:extLst>
        </c:ser>
        <c:ser>
          <c:idx val="3"/>
          <c:order val="3"/>
          <c:tx>
            <c:strRef>
              <c:f>'Forecast sheet'!$E$1</c:f>
              <c:strCache>
                <c:ptCount val="1"/>
                <c:pt idx="0">
                  <c:v>Upper Confidence Bound(cnt)</c:v>
                </c:pt>
              </c:strCache>
            </c:strRef>
          </c:tx>
          <c:spPr>
            <a:ln w="12700" cap="rnd">
              <a:solidFill>
                <a:srgbClr val="ED7D31"/>
              </a:solidFill>
              <a:prstDash val="solid"/>
              <a:round/>
            </a:ln>
            <a:effectLst/>
          </c:spPr>
          <c:marker>
            <c:symbol val="none"/>
          </c:marker>
          <c:cat>
            <c:numRef>
              <c:f>'Forecast sheet'!$A$2:$A$58</c:f>
              <c:numCache>
                <c:formatCode>m/d/yyyy</c:formatCode>
                <c:ptCount val="57"/>
                <c:pt idx="0">
                  <c:v>40544</c:v>
                </c:pt>
                <c:pt idx="1">
                  <c:v>40545</c:v>
                </c:pt>
                <c:pt idx="2">
                  <c:v>40546</c:v>
                </c:pt>
                <c:pt idx="3">
                  <c:v>40547</c:v>
                </c:pt>
                <c:pt idx="4">
                  <c:v>40548</c:v>
                </c:pt>
                <c:pt idx="5">
                  <c:v>40549</c:v>
                </c:pt>
                <c:pt idx="6">
                  <c:v>40550</c:v>
                </c:pt>
                <c:pt idx="7">
                  <c:v>40551</c:v>
                </c:pt>
                <c:pt idx="8">
                  <c:v>40552</c:v>
                </c:pt>
                <c:pt idx="9">
                  <c:v>40553</c:v>
                </c:pt>
                <c:pt idx="10">
                  <c:v>40554</c:v>
                </c:pt>
                <c:pt idx="11">
                  <c:v>40555</c:v>
                </c:pt>
                <c:pt idx="12">
                  <c:v>40556</c:v>
                </c:pt>
                <c:pt idx="13">
                  <c:v>40557</c:v>
                </c:pt>
                <c:pt idx="14">
                  <c:v>40558</c:v>
                </c:pt>
                <c:pt idx="15">
                  <c:v>40559</c:v>
                </c:pt>
                <c:pt idx="16">
                  <c:v>40560</c:v>
                </c:pt>
                <c:pt idx="17">
                  <c:v>40561</c:v>
                </c:pt>
                <c:pt idx="18">
                  <c:v>40562</c:v>
                </c:pt>
                <c:pt idx="19">
                  <c:v>40563</c:v>
                </c:pt>
                <c:pt idx="20">
                  <c:v>40564</c:v>
                </c:pt>
                <c:pt idx="21">
                  <c:v>40565</c:v>
                </c:pt>
                <c:pt idx="22">
                  <c:v>40566</c:v>
                </c:pt>
                <c:pt idx="23">
                  <c:v>40567</c:v>
                </c:pt>
                <c:pt idx="24">
                  <c:v>40568</c:v>
                </c:pt>
                <c:pt idx="25">
                  <c:v>40569</c:v>
                </c:pt>
                <c:pt idx="26">
                  <c:v>40570</c:v>
                </c:pt>
                <c:pt idx="27">
                  <c:v>40571</c:v>
                </c:pt>
                <c:pt idx="28">
                  <c:v>40572</c:v>
                </c:pt>
                <c:pt idx="29">
                  <c:v>40573</c:v>
                </c:pt>
                <c:pt idx="30">
                  <c:v>40574</c:v>
                </c:pt>
                <c:pt idx="31">
                  <c:v>40575</c:v>
                </c:pt>
                <c:pt idx="32">
                  <c:v>40576</c:v>
                </c:pt>
                <c:pt idx="33">
                  <c:v>40577</c:v>
                </c:pt>
                <c:pt idx="34">
                  <c:v>40578</c:v>
                </c:pt>
                <c:pt idx="35">
                  <c:v>40579</c:v>
                </c:pt>
                <c:pt idx="36">
                  <c:v>40580</c:v>
                </c:pt>
                <c:pt idx="37">
                  <c:v>40581</c:v>
                </c:pt>
                <c:pt idx="38">
                  <c:v>40582</c:v>
                </c:pt>
                <c:pt idx="39">
                  <c:v>40583</c:v>
                </c:pt>
                <c:pt idx="40">
                  <c:v>40584</c:v>
                </c:pt>
                <c:pt idx="41">
                  <c:v>40585</c:v>
                </c:pt>
                <c:pt idx="42">
                  <c:v>40586</c:v>
                </c:pt>
                <c:pt idx="43">
                  <c:v>40587</c:v>
                </c:pt>
                <c:pt idx="44">
                  <c:v>40588</c:v>
                </c:pt>
                <c:pt idx="45">
                  <c:v>40589</c:v>
                </c:pt>
                <c:pt idx="46">
                  <c:v>40590</c:v>
                </c:pt>
                <c:pt idx="47">
                  <c:v>40591</c:v>
                </c:pt>
                <c:pt idx="48">
                  <c:v>40592</c:v>
                </c:pt>
                <c:pt idx="49">
                  <c:v>40593</c:v>
                </c:pt>
                <c:pt idx="50">
                  <c:v>40594</c:v>
                </c:pt>
                <c:pt idx="51">
                  <c:v>40595</c:v>
                </c:pt>
                <c:pt idx="52">
                  <c:v>40596</c:v>
                </c:pt>
                <c:pt idx="53">
                  <c:v>40597</c:v>
                </c:pt>
                <c:pt idx="54">
                  <c:v>40598</c:v>
                </c:pt>
                <c:pt idx="55">
                  <c:v>40599</c:v>
                </c:pt>
                <c:pt idx="56">
                  <c:v>40600</c:v>
                </c:pt>
              </c:numCache>
            </c:numRef>
          </c:cat>
          <c:val>
            <c:numRef>
              <c:f>'Forecast sheet'!$E$2:$E$58</c:f>
              <c:numCache>
                <c:formatCode>General</c:formatCode>
                <c:ptCount val="57"/>
                <c:pt idx="44" formatCode="0.00">
                  <c:v>18.875</c:v>
                </c:pt>
                <c:pt idx="45" formatCode="0.00">
                  <c:v>90.681612402372778</c:v>
                </c:pt>
                <c:pt idx="46" formatCode="0.00">
                  <c:v>91.173546122732688</c:v>
                </c:pt>
                <c:pt idx="47" formatCode="0.00">
                  <c:v>91.667302925661602</c:v>
                </c:pt>
                <c:pt idx="48" formatCode="0.00">
                  <c:v>92.162868305537373</c:v>
                </c:pt>
                <c:pt idx="49" formatCode="0.00">
                  <c:v>92.660227890184757</c:v>
                </c:pt>
                <c:pt idx="50" formatCode="0.00">
                  <c:v>93.15936744410493</c:v>
                </c:pt>
                <c:pt idx="51" formatCode="0.00">
                  <c:v>93.660272871368321</c:v>
                </c:pt>
                <c:pt idx="52" formatCode="0.00">
                  <c:v>94.162930218187711</c:v>
                </c:pt>
                <c:pt idx="53" formatCode="0.00">
                  <c:v>94.667325675188238</c:v>
                </c:pt>
                <c:pt idx="54" formatCode="0.00">
                  <c:v>95.173445579390204</c:v>
                </c:pt>
                <c:pt idx="55" formatCode="0.00">
                  <c:v>95.681276415920422</c:v>
                </c:pt>
                <c:pt idx="56" formatCode="0.00">
                  <c:v>96.190804819466706</c:v>
                </c:pt>
              </c:numCache>
            </c:numRef>
          </c:val>
          <c:smooth val="0"/>
          <c:extLst>
            <c:ext xmlns:c16="http://schemas.microsoft.com/office/drawing/2014/chart" uri="{C3380CC4-5D6E-409C-BE32-E72D297353CC}">
              <c16:uniqueId val="{00000003-6FA5-4F1C-9975-9D352A239154}"/>
            </c:ext>
          </c:extLst>
        </c:ser>
        <c:dLbls>
          <c:showLegendKey val="0"/>
          <c:showVal val="0"/>
          <c:showCatName val="0"/>
          <c:showSerName val="0"/>
          <c:showPercent val="0"/>
          <c:showBubbleSize val="0"/>
        </c:dLbls>
        <c:smooth val="0"/>
        <c:axId val="579416000"/>
        <c:axId val="579411408"/>
      </c:lineChart>
      <c:catAx>
        <c:axId val="579416000"/>
        <c:scaling>
          <c:orientation val="minMax"/>
        </c:scaling>
        <c:delete val="0"/>
        <c:axPos val="b"/>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9411408"/>
        <c:crosses val="autoZero"/>
        <c:auto val="1"/>
        <c:lblAlgn val="ctr"/>
        <c:lblOffset val="100"/>
        <c:noMultiLvlLbl val="0"/>
      </c:catAx>
      <c:valAx>
        <c:axId val="5794114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79416000"/>
        <c:crosses val="autoZero"/>
        <c:crossBetween val="between"/>
      </c:valAx>
      <c:spPr>
        <a:noFill/>
        <a:ln>
          <a:noFill/>
        </a:ln>
        <a:effectLst/>
      </c:spPr>
    </c:plotArea>
    <c:legend>
      <c:legendPos val="b"/>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6">
  <a:schemeClr val="accent3"/>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6">
  <a:schemeClr val="accent3"/>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5">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a:xfrm>
            <a:off x="2692397" y="5037663"/>
            <a:ext cx="5214635" cy="279400"/>
          </a:xfrm>
        </p:spPr>
        <p:txBody>
          <a:bodyPr/>
          <a:lstStyle/>
          <a:p>
            <a:endParaRPr lang="en-US" dirty="0"/>
          </a:p>
        </p:txBody>
      </p:sp>
      <p:sp>
        <p:nvSpPr>
          <p:cNvPr id="6"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05BFA754-D5C3-4E66-96A6-867B257F58DC}" type="datetimeFigureOut">
              <a:rPr lang="en-US" dirty="0"/>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smtClean="0"/>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3/25/2026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3/25/2026</a:t>
            </a:fld>
            <a:endParaRPr lang="en-US" dirty="0"/>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8" r:id="rId2"/>
    <p:sldLayoutId id="2147483651" r:id="rId3"/>
    <p:sldLayoutId id="2147483669"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IN" dirty="0"/>
              <a:t>Bike Sharing Demand Analysis</a:t>
            </a:r>
          </a:p>
        </p:txBody>
      </p:sp>
      <p:sp>
        <p:nvSpPr>
          <p:cNvPr id="3" name="Subtitle 2"/>
          <p:cNvSpPr>
            <a:spLocks noGrp="1"/>
          </p:cNvSpPr>
          <p:nvPr>
            <p:ph type="subTitle" idx="1"/>
          </p:nvPr>
        </p:nvSpPr>
        <p:spPr/>
        <p:txBody>
          <a:bodyPr>
            <a:normAutofit lnSpcReduction="10000"/>
          </a:bodyPr>
          <a:lstStyle/>
          <a:p>
            <a:r>
              <a:rPr lang="en-IN" dirty="0" smtClean="0"/>
              <a:t>Next Hikes </a:t>
            </a:r>
            <a:r>
              <a:rPr lang="en-IN" dirty="0"/>
              <a:t>IT </a:t>
            </a:r>
            <a:r>
              <a:rPr lang="en-IN" dirty="0" smtClean="0"/>
              <a:t>Solutions</a:t>
            </a:r>
          </a:p>
          <a:p>
            <a:r>
              <a:rPr lang="en-US" dirty="0" smtClean="0"/>
              <a:t>Internship Project</a:t>
            </a:r>
          </a:p>
          <a:p>
            <a:r>
              <a:rPr lang="en-US" dirty="0" err="1" smtClean="0"/>
              <a:t>Bindu</a:t>
            </a:r>
            <a:r>
              <a:rPr lang="en-US" dirty="0" smtClean="0"/>
              <a:t> Kale A</a:t>
            </a:r>
            <a:endParaRPr lang="en-IN" dirty="0"/>
          </a:p>
        </p:txBody>
      </p:sp>
    </p:spTree>
    <p:extLst>
      <p:ext uri="{BB962C8B-B14F-4D97-AF65-F5344CB8AC3E}">
        <p14:creationId xmlns:p14="http://schemas.microsoft.com/office/powerpoint/2010/main" val="621712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Project Tasks </a:t>
            </a:r>
          </a:p>
        </p:txBody>
      </p:sp>
      <p:sp>
        <p:nvSpPr>
          <p:cNvPr id="3" name="Content Placeholder 2"/>
          <p:cNvSpPr>
            <a:spLocks noGrp="1"/>
          </p:cNvSpPr>
          <p:nvPr>
            <p:ph idx="1"/>
          </p:nvPr>
        </p:nvSpPr>
        <p:spPr/>
        <p:txBody>
          <a:bodyPr/>
          <a:lstStyle/>
          <a:p>
            <a:r>
              <a:rPr lang="en-US" dirty="0"/>
              <a:t>1. Excel Foundations &amp; Data Handling </a:t>
            </a:r>
            <a:endParaRPr lang="en-US" dirty="0" smtClean="0"/>
          </a:p>
          <a:p>
            <a:r>
              <a:rPr lang="en-US" dirty="0"/>
              <a:t>2. Data Loading, Merging &amp; Cleaning </a:t>
            </a:r>
            <a:endParaRPr lang="en-US" dirty="0" smtClean="0"/>
          </a:p>
          <a:p>
            <a:r>
              <a:rPr lang="en-US" dirty="0"/>
              <a:t>3. Conditional Logic &amp; </a:t>
            </a:r>
            <a:r>
              <a:rPr lang="en-US" dirty="0" smtClean="0"/>
              <a:t>Lookup </a:t>
            </a:r>
            <a:r>
              <a:rPr lang="en-US" dirty="0"/>
              <a:t>Functions </a:t>
            </a:r>
            <a:endParaRPr lang="en-US" dirty="0" smtClean="0"/>
          </a:p>
          <a:p>
            <a:r>
              <a:rPr lang="en-IN" dirty="0"/>
              <a:t>4. Advanced Data Analysis </a:t>
            </a:r>
            <a:endParaRPr lang="en-IN" dirty="0" smtClean="0"/>
          </a:p>
          <a:p>
            <a:r>
              <a:rPr lang="en-US" dirty="0"/>
              <a:t>5. Data Visualization &amp; Business Intelligence </a:t>
            </a:r>
            <a:endParaRPr lang="en-IN" dirty="0"/>
          </a:p>
        </p:txBody>
      </p:sp>
    </p:spTree>
    <p:extLst>
      <p:ext uri="{BB962C8B-B14F-4D97-AF65-F5344CB8AC3E}">
        <p14:creationId xmlns:p14="http://schemas.microsoft.com/office/powerpoint/2010/main" val="40721958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1196" cy="1303867"/>
          </a:xfrm>
        </p:spPr>
        <p:txBody>
          <a:bodyPr/>
          <a:lstStyle/>
          <a:p>
            <a:r>
              <a:rPr lang="en-US" dirty="0" smtClean="0"/>
              <a:t>DATASET-1</a:t>
            </a:r>
            <a:endParaRPr lang="en-IN" dirty="0"/>
          </a:p>
        </p:txBody>
      </p:sp>
      <p:sp>
        <p:nvSpPr>
          <p:cNvPr id="3" name="Content Placeholder 2"/>
          <p:cNvSpPr>
            <a:spLocks noGrp="1"/>
          </p:cNvSpPr>
          <p:nvPr>
            <p:ph idx="1"/>
          </p:nvPr>
        </p:nvSpPr>
        <p:spPr>
          <a:xfrm>
            <a:off x="1295401" y="2469845"/>
            <a:ext cx="9601196" cy="3735012"/>
          </a:xfrm>
        </p:spPr>
        <p:txBody>
          <a:bodyPr>
            <a:noAutofit/>
          </a:bodyPr>
          <a:lstStyle/>
          <a:p>
            <a:r>
              <a:rPr lang="en-US" sz="2000" dirty="0" smtClean="0"/>
              <a:t>In the dataset-1, the excel sheet had columns that </a:t>
            </a:r>
            <a:r>
              <a:rPr lang="en-US" sz="2000" dirty="0"/>
              <a:t>included </a:t>
            </a:r>
            <a:r>
              <a:rPr lang="en-US" sz="2000" dirty="0" smtClean="0"/>
              <a:t>instant, </a:t>
            </a:r>
            <a:r>
              <a:rPr lang="en-US" sz="2000" dirty="0" err="1" smtClean="0"/>
              <a:t>dteday</a:t>
            </a:r>
            <a:r>
              <a:rPr lang="en-US" sz="2000" dirty="0" smtClean="0"/>
              <a:t>, season, </a:t>
            </a:r>
            <a:r>
              <a:rPr lang="en-US" sz="2000" dirty="0" err="1" smtClean="0"/>
              <a:t>yr</a:t>
            </a:r>
            <a:r>
              <a:rPr lang="en-US" sz="2000" dirty="0" smtClean="0"/>
              <a:t>, month, </a:t>
            </a:r>
            <a:r>
              <a:rPr lang="en-US" sz="2000" dirty="0" err="1" smtClean="0"/>
              <a:t>hr</a:t>
            </a:r>
            <a:r>
              <a:rPr lang="en-US" sz="2000" dirty="0" smtClean="0"/>
              <a:t>, holiday, weekday, weather sit, temp. </a:t>
            </a:r>
          </a:p>
          <a:p>
            <a:r>
              <a:rPr lang="en-US" sz="2000" dirty="0" smtClean="0"/>
              <a:t>Before analyzing, the data was cleaned, formatted and well structured. According to the data I have removed season and </a:t>
            </a:r>
            <a:r>
              <a:rPr lang="en-US" sz="2000" dirty="0" err="1" smtClean="0"/>
              <a:t>yr</a:t>
            </a:r>
            <a:r>
              <a:rPr lang="en-US" sz="2000" dirty="0" smtClean="0"/>
              <a:t> column and added Days (Sunday, Monday, Tuesday, Wednesday, Thursday, Friday, Saturday) </a:t>
            </a:r>
            <a:r>
              <a:rPr lang="en-US" sz="2000" dirty="0" smtClean="0"/>
              <a:t>and </a:t>
            </a:r>
            <a:r>
              <a:rPr lang="en-US" sz="2000" dirty="0" smtClean="0"/>
              <a:t>weather (Cloudy, Light rain, Heavy rain, Extreme weather) column </a:t>
            </a:r>
            <a:r>
              <a:rPr lang="en-US" sz="2000" dirty="0"/>
              <a:t>using ‘IF’ functions for </a:t>
            </a:r>
            <a:r>
              <a:rPr lang="en-US" sz="2000" dirty="0" smtClean="0"/>
              <a:t>the convenience to analyze the data.</a:t>
            </a:r>
          </a:p>
          <a:p>
            <a:r>
              <a:rPr lang="en-US" sz="2000" dirty="0" smtClean="0"/>
              <a:t>I have checked for missing values, wrong </a:t>
            </a:r>
            <a:r>
              <a:rPr lang="en-US" sz="2000" dirty="0"/>
              <a:t>v</a:t>
            </a:r>
            <a:r>
              <a:rPr lang="en-US" sz="2000" dirty="0" smtClean="0"/>
              <a:t>alues, removed duplicate data. There were no missing values or duplicates in the dataset-1.</a:t>
            </a:r>
          </a:p>
          <a:p>
            <a:r>
              <a:rPr lang="en-US" sz="2000" dirty="0" smtClean="0"/>
              <a:t>I have bolded the headers, </a:t>
            </a:r>
            <a:r>
              <a:rPr lang="en-US" sz="2000" dirty="0"/>
              <a:t>applied </a:t>
            </a:r>
            <a:r>
              <a:rPr lang="en-US" sz="2000" dirty="0" smtClean="0"/>
              <a:t>filters- which helps to see only the desired rows and made </a:t>
            </a:r>
            <a:r>
              <a:rPr lang="en-US" sz="2000" dirty="0"/>
              <a:t>sure columns </a:t>
            </a:r>
            <a:r>
              <a:rPr lang="en-US" sz="2000" dirty="0" smtClean="0"/>
              <a:t>have </a:t>
            </a:r>
            <a:r>
              <a:rPr lang="en-US" sz="2000" dirty="0"/>
              <a:t>correct format, have sorted the </a:t>
            </a:r>
            <a:r>
              <a:rPr lang="en-US" sz="2000" dirty="0" smtClean="0"/>
              <a:t>data, for e.g. Sorted the temp data from smallest value to largest value.</a:t>
            </a:r>
          </a:p>
          <a:p>
            <a:endParaRPr lang="en-US" sz="2000" dirty="0" smtClean="0"/>
          </a:p>
          <a:p>
            <a:endParaRPr lang="en-US" sz="2000" dirty="0"/>
          </a:p>
          <a:p>
            <a:endParaRPr lang="en-IN" sz="2000" dirty="0"/>
          </a:p>
        </p:txBody>
      </p:sp>
    </p:spTree>
    <p:extLst>
      <p:ext uri="{BB962C8B-B14F-4D97-AF65-F5344CB8AC3E}">
        <p14:creationId xmlns:p14="http://schemas.microsoft.com/office/powerpoint/2010/main" val="27717305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txBox="1">
            <a:spLocks/>
          </p:cNvSpPr>
          <p:nvPr/>
        </p:nvSpPr>
        <p:spPr>
          <a:xfrm>
            <a:off x="1295401" y="859971"/>
            <a:ext cx="9601196" cy="5015897"/>
          </a:xfrm>
          <a:prstGeom prst="rect">
            <a:avLst/>
          </a:prstGeom>
        </p:spPr>
        <p:txBody>
          <a:bodyPr>
            <a:normAutofit lnSpcReduction="1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solidFill>
                  <a:schemeClr val="tx1"/>
                </a:solidFill>
              </a:rPr>
              <a:t>I have used basic formulas like Sum to calculate instant,  hr. Average to </a:t>
            </a:r>
            <a:r>
              <a:rPr lang="en-US" dirty="0">
                <a:solidFill>
                  <a:schemeClr val="tx1"/>
                </a:solidFill>
              </a:rPr>
              <a:t>calculate </a:t>
            </a:r>
            <a:r>
              <a:rPr lang="en-US" dirty="0" err="1" smtClean="0">
                <a:solidFill>
                  <a:schemeClr val="tx1"/>
                </a:solidFill>
              </a:rPr>
              <a:t>hr</a:t>
            </a:r>
            <a:r>
              <a:rPr lang="en-US" dirty="0" smtClean="0">
                <a:solidFill>
                  <a:schemeClr val="tx1"/>
                </a:solidFill>
              </a:rPr>
              <a:t>, weekday, </a:t>
            </a:r>
            <a:r>
              <a:rPr lang="en-US" dirty="0" err="1" smtClean="0">
                <a:solidFill>
                  <a:schemeClr val="tx1"/>
                </a:solidFill>
              </a:rPr>
              <a:t>weathersit</a:t>
            </a:r>
            <a:r>
              <a:rPr lang="en-US" dirty="0" smtClean="0">
                <a:solidFill>
                  <a:schemeClr val="tx1"/>
                </a:solidFill>
              </a:rPr>
              <a:t>, temp. Count for weekday and have used Len function for weather, which helped ensured everything was consistent. </a:t>
            </a:r>
            <a:r>
              <a:rPr lang="en-US" dirty="0" smtClean="0">
                <a:solidFill>
                  <a:schemeClr val="tx1"/>
                </a:solidFill>
              </a:rPr>
              <a:t>For e.g., </a:t>
            </a:r>
          </a:p>
          <a:p>
            <a:endParaRPr lang="en-US" dirty="0" smtClean="0">
              <a:solidFill>
                <a:schemeClr val="tx1"/>
              </a:solidFill>
            </a:endParaRPr>
          </a:p>
          <a:p>
            <a:r>
              <a:rPr lang="en-US" dirty="0" smtClean="0"/>
              <a:t>To highlight the important information, I have applied conditional formatting for </a:t>
            </a:r>
            <a:r>
              <a:rPr lang="en-US" dirty="0" err="1" smtClean="0"/>
              <a:t>hr</a:t>
            </a:r>
            <a:r>
              <a:rPr lang="en-US" dirty="0" smtClean="0"/>
              <a:t>, temp, </a:t>
            </a:r>
            <a:r>
              <a:rPr lang="en-US" dirty="0" err="1" smtClean="0"/>
              <a:t>weathersit</a:t>
            </a:r>
            <a:r>
              <a:rPr lang="en-US" dirty="0" smtClean="0"/>
              <a:t> using Highlight cell rules </a:t>
            </a:r>
            <a:r>
              <a:rPr lang="en-US" dirty="0"/>
              <a:t>and color </a:t>
            </a:r>
            <a:r>
              <a:rPr lang="en-US" dirty="0" smtClean="0"/>
              <a:t>scales. For </a:t>
            </a:r>
            <a:r>
              <a:rPr lang="en-US" dirty="0" smtClean="0"/>
              <a:t>e.g. temp- greater than 0.20 highlighted in red, etc.</a:t>
            </a:r>
          </a:p>
          <a:p>
            <a:r>
              <a:rPr lang="en-US" dirty="0" smtClean="0"/>
              <a:t>Once the data is cleaned and organized, I have created pivot table and pivot chart to summarize, analyze and visualize the data quickly and easily.</a:t>
            </a:r>
          </a:p>
          <a:p>
            <a:r>
              <a:rPr lang="en-US" dirty="0" smtClean="0"/>
              <a:t>The tables that were created contains variables like </a:t>
            </a:r>
            <a:r>
              <a:rPr lang="en-US" dirty="0" err="1" smtClean="0"/>
              <a:t>hr</a:t>
            </a:r>
            <a:r>
              <a:rPr lang="en-US" dirty="0" smtClean="0"/>
              <a:t> vs temp, </a:t>
            </a:r>
            <a:r>
              <a:rPr lang="en-US" dirty="0" err="1" smtClean="0"/>
              <a:t>hr</a:t>
            </a:r>
            <a:r>
              <a:rPr lang="en-US" dirty="0" smtClean="0"/>
              <a:t> vs weather, weather vs total </a:t>
            </a:r>
            <a:r>
              <a:rPr lang="en-US" dirty="0" err="1" smtClean="0"/>
              <a:t>hr</a:t>
            </a:r>
            <a:r>
              <a:rPr lang="en-US" dirty="0" smtClean="0"/>
              <a:t>, </a:t>
            </a:r>
            <a:r>
              <a:rPr lang="en-US" dirty="0" err="1" smtClean="0"/>
              <a:t>hr</a:t>
            </a:r>
            <a:r>
              <a:rPr lang="en-US" dirty="0" smtClean="0"/>
              <a:t> vs days. </a:t>
            </a:r>
          </a:p>
          <a:p>
            <a:endParaRPr lang="en-US" dirty="0" smtClean="0"/>
          </a:p>
          <a:p>
            <a:endParaRPr lang="en-IN" dirty="0"/>
          </a:p>
        </p:txBody>
      </p:sp>
      <p:graphicFrame>
        <p:nvGraphicFramePr>
          <p:cNvPr id="2" name="Table 1"/>
          <p:cNvGraphicFramePr>
            <a:graphicFrameLocks noGrp="1"/>
          </p:cNvGraphicFramePr>
          <p:nvPr>
            <p:extLst>
              <p:ext uri="{D42A27DB-BD31-4B8C-83A1-F6EECF244321}">
                <p14:modId xmlns:p14="http://schemas.microsoft.com/office/powerpoint/2010/main" val="2404093426"/>
              </p:ext>
            </p:extLst>
          </p:nvPr>
        </p:nvGraphicFramePr>
        <p:xfrm>
          <a:off x="2806377" y="1859545"/>
          <a:ext cx="1076325" cy="800100"/>
        </p:xfrm>
        <a:graphic>
          <a:graphicData uri="http://schemas.openxmlformats.org/drawingml/2006/table">
            <a:tbl>
              <a:tblPr>
                <a:tableStyleId>{5C22544A-7EE6-4342-B048-85BDC9FD1C3A}</a:tableStyleId>
              </a:tblPr>
              <a:tblGrid>
                <a:gridCol w="1076325">
                  <a:extLst>
                    <a:ext uri="{9D8B030D-6E8A-4147-A177-3AD203B41FA5}">
                      <a16:colId xmlns:a16="http://schemas.microsoft.com/office/drawing/2014/main" val="3020997339"/>
                    </a:ext>
                  </a:extLst>
                </a:gridCol>
              </a:tblGrid>
              <a:tr h="200025">
                <a:tc>
                  <a:txBody>
                    <a:bodyPr/>
                    <a:lstStyle/>
                    <a:p>
                      <a:pPr algn="l" fontAlgn="b"/>
                      <a:r>
                        <a:rPr lang="en-IN" sz="1100" u="none" strike="noStrike">
                          <a:effectLst/>
                        </a:rPr>
                        <a:t>SUM</a:t>
                      </a:r>
                      <a:endParaRPr lang="en-IN" sz="1100" b="1"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582719228"/>
                  </a:ext>
                </a:extLst>
              </a:tr>
              <a:tr h="200025">
                <a:tc>
                  <a:txBody>
                    <a:bodyPr/>
                    <a:lstStyle/>
                    <a:p>
                      <a:pPr algn="r" fontAlgn="b"/>
                      <a:r>
                        <a:rPr lang="en-IN" sz="1100" u="none" strike="noStrike">
                          <a:effectLst/>
                        </a:rPr>
                        <a:t>7195</a:t>
                      </a:r>
                      <a:endParaRPr lang="en-IN"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1328918950"/>
                  </a:ext>
                </a:extLst>
              </a:tr>
              <a:tr h="200025">
                <a:tc>
                  <a:txBody>
                    <a:bodyPr/>
                    <a:lstStyle/>
                    <a:p>
                      <a:pPr algn="l" fontAlgn="b"/>
                      <a:r>
                        <a:rPr lang="en-IN" sz="1100" u="none" strike="noStrike">
                          <a:effectLst/>
                        </a:rPr>
                        <a:t>AVERAGE</a:t>
                      </a:r>
                      <a:endParaRPr lang="en-IN" sz="1100" b="1"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47255531"/>
                  </a:ext>
                </a:extLst>
              </a:tr>
              <a:tr h="200025">
                <a:tc>
                  <a:txBody>
                    <a:bodyPr/>
                    <a:lstStyle/>
                    <a:p>
                      <a:pPr algn="r" fontAlgn="b"/>
                      <a:r>
                        <a:rPr lang="en-IN" sz="1100" u="none" strike="noStrike">
                          <a:effectLst/>
                        </a:rPr>
                        <a:t>11.79508</a:t>
                      </a:r>
                      <a:endParaRPr lang="en-IN" sz="1100" b="0" i="0" u="none" strike="noStrike">
                        <a:solidFill>
                          <a:srgbClr val="000000"/>
                        </a:solidFill>
                        <a:effectLst/>
                        <a:latin typeface="Calibri" panose="020F0502020204030204" pitchFamily="34" charset="0"/>
                      </a:endParaRPr>
                    </a:p>
                  </a:txBody>
                  <a:tcPr marL="7620" marR="7620" marT="7620" marB="0" anchor="b"/>
                </a:tc>
                <a:extLst>
                  <a:ext uri="{0D108BD9-81ED-4DB2-BD59-A6C34878D82A}">
                    <a16:rowId xmlns:a16="http://schemas.microsoft.com/office/drawing/2014/main" val="412902518"/>
                  </a:ext>
                </a:extLst>
              </a:tr>
            </a:tbl>
          </a:graphicData>
        </a:graphic>
      </p:graphicFrame>
    </p:spTree>
    <p:extLst>
      <p:ext uri="{BB962C8B-B14F-4D97-AF65-F5344CB8AC3E}">
        <p14:creationId xmlns:p14="http://schemas.microsoft.com/office/powerpoint/2010/main" val="8851466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p:cNvGraphicFramePr>
          <p:nvPr>
            <p:extLst>
              <p:ext uri="{D42A27DB-BD31-4B8C-83A1-F6EECF244321}">
                <p14:modId xmlns:p14="http://schemas.microsoft.com/office/powerpoint/2010/main" val="161672871"/>
              </p:ext>
            </p:extLst>
          </p:nvPr>
        </p:nvGraphicFramePr>
        <p:xfrm>
          <a:off x="828235" y="1168645"/>
          <a:ext cx="4328160" cy="25336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p:cNvGraphicFramePr>
            <a:graphicFrameLocks/>
          </p:cNvGraphicFramePr>
          <p:nvPr>
            <p:extLst>
              <p:ext uri="{D42A27DB-BD31-4B8C-83A1-F6EECF244321}">
                <p14:modId xmlns:p14="http://schemas.microsoft.com/office/powerpoint/2010/main" val="1916765682"/>
              </p:ext>
            </p:extLst>
          </p:nvPr>
        </p:nvGraphicFramePr>
        <p:xfrm>
          <a:off x="5538274" y="2843286"/>
          <a:ext cx="5036820" cy="315849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047515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1196" cy="1303867"/>
          </a:xfrm>
        </p:spPr>
        <p:txBody>
          <a:bodyPr/>
          <a:lstStyle/>
          <a:p>
            <a:r>
              <a:rPr lang="en-US" dirty="0" smtClean="0"/>
              <a:t>DATASET-2</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Similar steps were applied in the dataset-2, the excel sheet had columns that included unnamed, instant, </a:t>
            </a:r>
            <a:r>
              <a:rPr lang="en-US" dirty="0" err="1" smtClean="0"/>
              <a:t>atemp</a:t>
            </a:r>
            <a:r>
              <a:rPr lang="en-US" dirty="0" smtClean="0"/>
              <a:t>, hum, </a:t>
            </a:r>
            <a:r>
              <a:rPr lang="en-US" dirty="0" err="1" smtClean="0"/>
              <a:t>windspeed</a:t>
            </a:r>
            <a:r>
              <a:rPr lang="en-US" dirty="0" smtClean="0"/>
              <a:t>,</a:t>
            </a:r>
            <a:r>
              <a:rPr lang="en-US" dirty="0"/>
              <a:t>	</a:t>
            </a:r>
            <a:r>
              <a:rPr lang="en-US" dirty="0" smtClean="0"/>
              <a:t>casual, registered, </a:t>
            </a:r>
            <a:r>
              <a:rPr lang="en-US" dirty="0" err="1" smtClean="0"/>
              <a:t>cnt</a:t>
            </a:r>
            <a:r>
              <a:rPr lang="en-US" dirty="0" smtClean="0"/>
              <a:t>.</a:t>
            </a:r>
            <a:endParaRPr lang="en-US" dirty="0"/>
          </a:p>
          <a:p>
            <a:r>
              <a:rPr lang="en-US" dirty="0" smtClean="0"/>
              <a:t>Before analyzing, the data was cleaned, formatted and well structured. As the column ‘unnamed’ was irrelevant, I have removed it.</a:t>
            </a:r>
          </a:p>
          <a:p>
            <a:r>
              <a:rPr lang="en-US" dirty="0"/>
              <a:t>I have bolded the headers, applied filters- which helps to see only the desired rows and made sure columns </a:t>
            </a:r>
            <a:r>
              <a:rPr lang="en-US" dirty="0" smtClean="0"/>
              <a:t>have </a:t>
            </a:r>
            <a:r>
              <a:rPr lang="en-US" dirty="0"/>
              <a:t>correct </a:t>
            </a:r>
            <a:r>
              <a:rPr lang="en-US" dirty="0" smtClean="0"/>
              <a:t>format (for </a:t>
            </a:r>
            <a:r>
              <a:rPr lang="en-US" dirty="0" err="1" smtClean="0"/>
              <a:t>e.g</a:t>
            </a:r>
            <a:r>
              <a:rPr lang="en-US" dirty="0" smtClean="0"/>
              <a:t>, have increased the decimals by 4 digits in </a:t>
            </a:r>
            <a:r>
              <a:rPr lang="en-US" dirty="0" err="1" smtClean="0"/>
              <a:t>atemp</a:t>
            </a:r>
            <a:r>
              <a:rPr lang="en-US" dirty="0" smtClean="0"/>
              <a:t>) </a:t>
            </a:r>
          </a:p>
          <a:p>
            <a:r>
              <a:rPr lang="en-US" dirty="0" smtClean="0"/>
              <a:t>There were no duplicates or wrong values in the dataset-2. But there were a few missing values/ blanks in </a:t>
            </a:r>
            <a:r>
              <a:rPr lang="en-US" dirty="0" err="1" smtClean="0"/>
              <a:t>atemp</a:t>
            </a:r>
            <a:r>
              <a:rPr lang="en-US" dirty="0" smtClean="0"/>
              <a:t>. I have taken the average value of </a:t>
            </a:r>
            <a:r>
              <a:rPr lang="en-US" dirty="0" err="1" smtClean="0"/>
              <a:t>atemp</a:t>
            </a:r>
            <a:r>
              <a:rPr lang="en-US" dirty="0" smtClean="0"/>
              <a:t> column and the results has been replaced in the blank cells.</a:t>
            </a:r>
          </a:p>
          <a:p>
            <a:endParaRPr lang="en-US" dirty="0" smtClean="0"/>
          </a:p>
          <a:p>
            <a:endParaRPr lang="en-US" dirty="0"/>
          </a:p>
          <a:p>
            <a:endParaRPr lang="en-IN" dirty="0"/>
          </a:p>
        </p:txBody>
      </p:sp>
    </p:spTree>
    <p:extLst>
      <p:ext uri="{BB962C8B-B14F-4D97-AF65-F5344CB8AC3E}">
        <p14:creationId xmlns:p14="http://schemas.microsoft.com/office/powerpoint/2010/main" val="38740217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lnSpcReduction="1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t>I have sorted the data, for e.g. Sorted the instant data from largest value to smallest value.</a:t>
            </a:r>
          </a:p>
          <a:p>
            <a:r>
              <a:rPr lang="en-US" dirty="0"/>
              <a:t>I have used basic formulas like Sum to calculate casual, registered, </a:t>
            </a:r>
            <a:r>
              <a:rPr lang="en-US" dirty="0" err="1"/>
              <a:t>cnt</a:t>
            </a:r>
            <a:r>
              <a:rPr lang="en-US" dirty="0"/>
              <a:t>. Average to calculate </a:t>
            </a:r>
            <a:r>
              <a:rPr lang="en-US" dirty="0" err="1"/>
              <a:t>atemp</a:t>
            </a:r>
            <a:r>
              <a:rPr lang="en-US" dirty="0"/>
              <a:t>, hum	, </a:t>
            </a:r>
            <a:r>
              <a:rPr lang="en-US" dirty="0" err="1"/>
              <a:t>windspeed</a:t>
            </a:r>
            <a:r>
              <a:rPr lang="en-US" dirty="0"/>
              <a:t>, casual, registered, </a:t>
            </a:r>
            <a:r>
              <a:rPr lang="en-US" dirty="0" err="1"/>
              <a:t>cnt</a:t>
            </a:r>
            <a:endParaRPr lang="en-US" dirty="0"/>
          </a:p>
          <a:p>
            <a:r>
              <a:rPr lang="en-US" dirty="0"/>
              <a:t>To highlight the important information, I have applied conditional formatting for </a:t>
            </a:r>
            <a:r>
              <a:rPr lang="en-US" dirty="0" err="1"/>
              <a:t>windspeed</a:t>
            </a:r>
            <a:r>
              <a:rPr lang="en-US" dirty="0"/>
              <a:t> and </a:t>
            </a:r>
            <a:r>
              <a:rPr lang="en-US" dirty="0" err="1"/>
              <a:t>cnt</a:t>
            </a:r>
            <a:r>
              <a:rPr lang="en-US" dirty="0"/>
              <a:t> using Highlight cell rules and color scales, For e.g. </a:t>
            </a:r>
            <a:r>
              <a:rPr lang="en-US" dirty="0" err="1"/>
              <a:t>cnt</a:t>
            </a:r>
            <a:r>
              <a:rPr lang="en-US" dirty="0"/>
              <a:t> greater than 150 highlighted in green, etc. </a:t>
            </a:r>
          </a:p>
          <a:p>
            <a:r>
              <a:rPr lang="en-US" dirty="0"/>
              <a:t>Once the data is cleaned and organized, I have created pivot table and pivot chart to summarize, analyze and visualize the data quickly and </a:t>
            </a:r>
            <a:r>
              <a:rPr lang="en-US" dirty="0" smtClean="0"/>
              <a:t>easily for </a:t>
            </a:r>
            <a:r>
              <a:rPr lang="en-US" dirty="0"/>
              <a:t>Dataset-2. </a:t>
            </a:r>
          </a:p>
          <a:p>
            <a:r>
              <a:rPr lang="en-US" dirty="0"/>
              <a:t>The tables that were created contains variables like </a:t>
            </a:r>
            <a:r>
              <a:rPr lang="en-US" dirty="0" err="1" smtClean="0"/>
              <a:t>atemp</a:t>
            </a:r>
            <a:r>
              <a:rPr lang="en-US" dirty="0" smtClean="0"/>
              <a:t> vs </a:t>
            </a:r>
            <a:r>
              <a:rPr lang="en-US" dirty="0" err="1" smtClean="0"/>
              <a:t>renatls</a:t>
            </a:r>
            <a:r>
              <a:rPr lang="en-US" dirty="0" smtClean="0"/>
              <a:t>, hum </a:t>
            </a:r>
            <a:r>
              <a:rPr lang="en-US" dirty="0"/>
              <a:t>vs </a:t>
            </a:r>
            <a:r>
              <a:rPr lang="en-US" dirty="0" smtClean="0"/>
              <a:t>rentals, </a:t>
            </a:r>
            <a:r>
              <a:rPr lang="en-US" dirty="0" err="1" smtClean="0"/>
              <a:t>windspeed</a:t>
            </a:r>
            <a:r>
              <a:rPr lang="en-US" dirty="0" smtClean="0"/>
              <a:t> </a:t>
            </a:r>
            <a:r>
              <a:rPr lang="en-US" dirty="0"/>
              <a:t>vs </a:t>
            </a:r>
            <a:r>
              <a:rPr lang="en-US" dirty="0" smtClean="0"/>
              <a:t>casual users. </a:t>
            </a:r>
            <a:endParaRPr lang="en-US" dirty="0"/>
          </a:p>
          <a:p>
            <a:endParaRPr lang="en-US" dirty="0" smtClean="0"/>
          </a:p>
          <a:p>
            <a:endParaRPr lang="en-US" dirty="0" smtClean="0"/>
          </a:p>
          <a:p>
            <a:endParaRPr lang="en-US" dirty="0" smtClean="0"/>
          </a:p>
          <a:p>
            <a:endParaRPr lang="en-IN" dirty="0"/>
          </a:p>
        </p:txBody>
      </p:sp>
    </p:spTree>
    <p:extLst>
      <p:ext uri="{BB962C8B-B14F-4D97-AF65-F5344CB8AC3E}">
        <p14:creationId xmlns:p14="http://schemas.microsoft.com/office/powerpoint/2010/main" val="28706275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p:cNvGraphicFramePr>
          <p:nvPr>
            <p:extLst>
              <p:ext uri="{D42A27DB-BD31-4B8C-83A1-F6EECF244321}">
                <p14:modId xmlns:p14="http://schemas.microsoft.com/office/powerpoint/2010/main" val="1814782604"/>
              </p:ext>
            </p:extLst>
          </p:nvPr>
        </p:nvGraphicFramePr>
        <p:xfrm>
          <a:off x="792480" y="844208"/>
          <a:ext cx="4892040" cy="283083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p:cNvGraphicFramePr>
            <a:graphicFrameLocks/>
          </p:cNvGraphicFramePr>
          <p:nvPr>
            <p:extLst>
              <p:ext uri="{D42A27DB-BD31-4B8C-83A1-F6EECF244321}">
                <p14:modId xmlns:p14="http://schemas.microsoft.com/office/powerpoint/2010/main" val="2071515968"/>
              </p:ext>
            </p:extLst>
          </p:nvPr>
        </p:nvGraphicFramePr>
        <p:xfrm>
          <a:off x="5788269" y="2778369"/>
          <a:ext cx="4876800" cy="290146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2266146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1196" cy="1303867"/>
          </a:xfrm>
        </p:spPr>
        <p:txBody>
          <a:bodyPr/>
          <a:lstStyle/>
          <a:p>
            <a:r>
              <a:rPr lang="en-US" dirty="0" smtClean="0"/>
              <a:t>DATASET-3</a:t>
            </a:r>
            <a:endParaRPr lang="en-IN" dirty="0"/>
          </a:p>
        </p:txBody>
      </p:sp>
      <p:sp>
        <p:nvSpPr>
          <p:cNvPr id="3" name="Content Placeholder 2"/>
          <p:cNvSpPr>
            <a:spLocks noGrp="1"/>
          </p:cNvSpPr>
          <p:nvPr>
            <p:ph idx="1"/>
          </p:nvPr>
        </p:nvSpPr>
        <p:spPr>
          <a:xfrm>
            <a:off x="1295401" y="2469845"/>
            <a:ext cx="9601196" cy="3735012"/>
          </a:xfrm>
        </p:spPr>
        <p:txBody>
          <a:bodyPr>
            <a:noAutofit/>
          </a:bodyPr>
          <a:lstStyle/>
          <a:p>
            <a:r>
              <a:rPr lang="en-US" sz="2000" dirty="0" smtClean="0"/>
              <a:t>In the dataset-3, the excel sheet had all the columns that were present in dataset-1 and dataset-2. </a:t>
            </a:r>
          </a:p>
          <a:p>
            <a:r>
              <a:rPr lang="en-US" sz="2000" dirty="0" smtClean="0"/>
              <a:t>And accordingly I have formatted, cleaned and organized the columns in dataset-3.</a:t>
            </a:r>
          </a:p>
          <a:p>
            <a:r>
              <a:rPr lang="en-US" sz="2000" dirty="0" smtClean="0"/>
              <a:t>I have checked for missing values, wrong </a:t>
            </a:r>
            <a:r>
              <a:rPr lang="en-US" sz="2000" dirty="0"/>
              <a:t>v</a:t>
            </a:r>
            <a:r>
              <a:rPr lang="en-US" sz="2000" dirty="0" smtClean="0"/>
              <a:t>alues, removed duplicate data, have bolded the headers, </a:t>
            </a:r>
            <a:r>
              <a:rPr lang="en-US" sz="2000" dirty="0"/>
              <a:t>applied </a:t>
            </a:r>
            <a:r>
              <a:rPr lang="en-US" sz="2000" dirty="0" smtClean="0"/>
              <a:t>filters- which helps to see only the desired rows and made </a:t>
            </a:r>
            <a:r>
              <a:rPr lang="en-US" sz="2000" dirty="0"/>
              <a:t>sure columns </a:t>
            </a:r>
            <a:r>
              <a:rPr lang="en-US" sz="2000" dirty="0" smtClean="0"/>
              <a:t>have </a:t>
            </a:r>
            <a:r>
              <a:rPr lang="en-US" sz="2000" dirty="0"/>
              <a:t>correct format, have sorted the </a:t>
            </a:r>
            <a:r>
              <a:rPr lang="en-US" sz="2000" dirty="0" smtClean="0"/>
              <a:t>data.</a:t>
            </a:r>
          </a:p>
          <a:p>
            <a:r>
              <a:rPr lang="en-US" sz="2000" dirty="0" smtClean="0"/>
              <a:t>Basic formulas like Sum, Average, Count and text functions are also applied in dataset-3 to the same columns in dataset-1 and dataset-2.</a:t>
            </a:r>
          </a:p>
          <a:p>
            <a:endParaRPr lang="en-US" sz="2000" dirty="0" smtClean="0"/>
          </a:p>
          <a:p>
            <a:endParaRPr lang="en-US" sz="2000" dirty="0"/>
          </a:p>
          <a:p>
            <a:endParaRPr lang="en-IN" sz="2000" dirty="0"/>
          </a:p>
        </p:txBody>
      </p:sp>
    </p:spTree>
    <p:extLst>
      <p:ext uri="{BB962C8B-B14F-4D97-AF65-F5344CB8AC3E}">
        <p14:creationId xmlns:p14="http://schemas.microsoft.com/office/powerpoint/2010/main" val="1518140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t>Have </a:t>
            </a:r>
            <a:r>
              <a:rPr lang="en-US" dirty="0" smtClean="0"/>
              <a:t>highlighted </a:t>
            </a:r>
            <a:r>
              <a:rPr lang="en-US" dirty="0"/>
              <a:t>the important information, </a:t>
            </a:r>
            <a:r>
              <a:rPr lang="en-US" dirty="0" smtClean="0"/>
              <a:t>correspondingly to dataset-1 and dataset-2 and </a:t>
            </a:r>
            <a:r>
              <a:rPr lang="en-US" dirty="0"/>
              <a:t>have applied conditional formatting </a:t>
            </a:r>
            <a:r>
              <a:rPr lang="en-US" dirty="0" smtClean="0"/>
              <a:t>as well.</a:t>
            </a:r>
            <a:endParaRPr lang="en-US" dirty="0"/>
          </a:p>
          <a:p>
            <a:r>
              <a:rPr lang="en-US" dirty="0"/>
              <a:t>Once the data is cleaned and organized, I have created pivot table and pivot chart to summarize, analyze and visualize the data quickly and easily. </a:t>
            </a:r>
            <a:endParaRPr lang="en-US" dirty="0" smtClean="0"/>
          </a:p>
          <a:p>
            <a:r>
              <a:rPr lang="en-US" dirty="0" smtClean="0"/>
              <a:t>The </a:t>
            </a:r>
            <a:r>
              <a:rPr lang="en-US" dirty="0"/>
              <a:t>tables that were created contains variables like </a:t>
            </a:r>
            <a:r>
              <a:rPr lang="en-US" dirty="0" err="1" smtClean="0"/>
              <a:t>hr</a:t>
            </a:r>
            <a:r>
              <a:rPr lang="en-US" dirty="0" smtClean="0"/>
              <a:t> vs </a:t>
            </a:r>
            <a:r>
              <a:rPr lang="en-US" dirty="0" err="1" smtClean="0"/>
              <a:t>cnt</a:t>
            </a:r>
            <a:r>
              <a:rPr lang="en-US" dirty="0" smtClean="0"/>
              <a:t>, weather </a:t>
            </a:r>
            <a:r>
              <a:rPr lang="en-US" dirty="0"/>
              <a:t>vs </a:t>
            </a:r>
            <a:r>
              <a:rPr lang="en-US" dirty="0" err="1" smtClean="0"/>
              <a:t>cnt</a:t>
            </a:r>
            <a:r>
              <a:rPr lang="en-US" dirty="0" smtClean="0"/>
              <a:t>, registered users vs days. </a:t>
            </a:r>
            <a:endParaRPr lang="en-US" dirty="0"/>
          </a:p>
          <a:p>
            <a:endParaRPr lang="en-US" dirty="0" smtClean="0"/>
          </a:p>
          <a:p>
            <a:endParaRPr lang="en-US" dirty="0" smtClean="0"/>
          </a:p>
          <a:p>
            <a:endParaRPr lang="en-US" dirty="0" smtClean="0"/>
          </a:p>
          <a:p>
            <a:endParaRPr lang="en-IN" dirty="0"/>
          </a:p>
        </p:txBody>
      </p:sp>
    </p:spTree>
    <p:extLst>
      <p:ext uri="{BB962C8B-B14F-4D97-AF65-F5344CB8AC3E}">
        <p14:creationId xmlns:p14="http://schemas.microsoft.com/office/powerpoint/2010/main" val="3989998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p:cNvGraphicFramePr>
          <p:nvPr>
            <p:extLst>
              <p:ext uri="{D42A27DB-BD31-4B8C-83A1-F6EECF244321}">
                <p14:modId xmlns:p14="http://schemas.microsoft.com/office/powerpoint/2010/main" val="2526418740"/>
              </p:ext>
            </p:extLst>
          </p:nvPr>
        </p:nvGraphicFramePr>
        <p:xfrm>
          <a:off x="908539" y="8352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p:cNvGraphicFramePr>
            <a:graphicFrameLocks/>
          </p:cNvGraphicFramePr>
          <p:nvPr>
            <p:extLst>
              <p:ext uri="{D42A27DB-BD31-4B8C-83A1-F6EECF244321}">
                <p14:modId xmlns:p14="http://schemas.microsoft.com/office/powerpoint/2010/main" val="3485222546"/>
              </p:ext>
            </p:extLst>
          </p:nvPr>
        </p:nvGraphicFramePr>
        <p:xfrm>
          <a:off x="6324600" y="3156438"/>
          <a:ext cx="4572000" cy="27432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6754710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1196" cy="1303867"/>
          </a:xfrm>
        </p:spPr>
        <p:txBody>
          <a:bodyPr/>
          <a:lstStyle/>
          <a:p>
            <a:r>
              <a:rPr lang="en-US" dirty="0" smtClean="0"/>
              <a:t>DATASET-A</a:t>
            </a:r>
            <a:endParaRPr lang="en-IN" dirty="0"/>
          </a:p>
        </p:txBody>
      </p:sp>
      <p:sp>
        <p:nvSpPr>
          <p:cNvPr id="3" name="Content Placeholder 2"/>
          <p:cNvSpPr>
            <a:spLocks noGrp="1"/>
          </p:cNvSpPr>
          <p:nvPr>
            <p:ph idx="1"/>
          </p:nvPr>
        </p:nvSpPr>
        <p:spPr>
          <a:xfrm>
            <a:off x="1295401" y="2469845"/>
            <a:ext cx="9601196" cy="3735012"/>
          </a:xfrm>
        </p:spPr>
        <p:txBody>
          <a:bodyPr>
            <a:noAutofit/>
          </a:bodyPr>
          <a:lstStyle/>
          <a:p>
            <a:r>
              <a:rPr lang="en-US" sz="2000" dirty="0" smtClean="0"/>
              <a:t>Dataset A is the merged version of Dataset-1 and Dataset- 2, I have imported all the columns from Dataset-1 and Dataset-2 to create a new sheet and named it Dataset-A.</a:t>
            </a:r>
          </a:p>
          <a:p>
            <a:r>
              <a:rPr lang="en-US" sz="2000" dirty="0" smtClean="0"/>
              <a:t>It was necessary to combine </a:t>
            </a:r>
            <a:r>
              <a:rPr lang="en-US" sz="2000" dirty="0" smtClean="0"/>
              <a:t>the data to get the complete description of the bike rentals records from both the data sheet. </a:t>
            </a:r>
          </a:p>
          <a:p>
            <a:r>
              <a:rPr lang="en-US" sz="2000" dirty="0" smtClean="0"/>
              <a:t>I have used VLOOKUP formula to bring the columns with common keywords like instant, </a:t>
            </a:r>
            <a:r>
              <a:rPr lang="en-US" sz="2000" dirty="0" err="1" smtClean="0"/>
              <a:t>hr</a:t>
            </a:r>
            <a:r>
              <a:rPr lang="en-US" sz="2000" dirty="0" smtClean="0"/>
              <a:t>, </a:t>
            </a:r>
            <a:r>
              <a:rPr lang="en-US" sz="2000" dirty="0" err="1" smtClean="0"/>
              <a:t>dteday</a:t>
            </a:r>
            <a:r>
              <a:rPr lang="en-US" sz="2000" dirty="0" smtClean="0"/>
              <a:t>, month of Dataset-2 together with Dataset-1 which were copied to a new excel sheet and merged with them. </a:t>
            </a:r>
          </a:p>
          <a:p>
            <a:r>
              <a:rPr lang="en-US" sz="2000" dirty="0" smtClean="0"/>
              <a:t>In Dataset-A, we have columns </a:t>
            </a:r>
            <a:r>
              <a:rPr lang="en-US" sz="2000" dirty="0"/>
              <a:t>like- </a:t>
            </a:r>
            <a:r>
              <a:rPr lang="en-US" sz="2000" dirty="0" smtClean="0"/>
              <a:t>instant, </a:t>
            </a:r>
            <a:r>
              <a:rPr lang="en-US" sz="2000" dirty="0" err="1" smtClean="0"/>
              <a:t>dteday</a:t>
            </a:r>
            <a:r>
              <a:rPr lang="en-US" sz="2000" dirty="0" smtClean="0"/>
              <a:t>, month, </a:t>
            </a:r>
            <a:r>
              <a:rPr lang="en-US" sz="2000" dirty="0" err="1" smtClean="0"/>
              <a:t>hr</a:t>
            </a:r>
            <a:r>
              <a:rPr lang="en-US" sz="2000" dirty="0" smtClean="0"/>
              <a:t>, holiday, weekday, Days, </a:t>
            </a:r>
            <a:r>
              <a:rPr lang="en-US" sz="2000" dirty="0" err="1" smtClean="0"/>
              <a:t>weathersit</a:t>
            </a:r>
            <a:r>
              <a:rPr lang="en-US" sz="2000" dirty="0" smtClean="0"/>
              <a:t>, Weather,</a:t>
            </a:r>
            <a:r>
              <a:rPr lang="en-US" sz="2000" dirty="0"/>
              <a:t>	</a:t>
            </a:r>
            <a:r>
              <a:rPr lang="en-US" sz="2000" dirty="0" smtClean="0"/>
              <a:t>temp, </a:t>
            </a:r>
            <a:r>
              <a:rPr lang="en-US" sz="2000" dirty="0" err="1" smtClean="0"/>
              <a:t>atemp</a:t>
            </a:r>
            <a:r>
              <a:rPr lang="en-US" sz="2000" dirty="0" smtClean="0"/>
              <a:t>, hum, </a:t>
            </a:r>
            <a:r>
              <a:rPr lang="en-US" sz="2000" dirty="0" err="1" smtClean="0"/>
              <a:t>windspeed</a:t>
            </a:r>
            <a:r>
              <a:rPr lang="en-US" sz="2000" dirty="0" smtClean="0"/>
              <a:t>, casual, registered, </a:t>
            </a:r>
            <a:r>
              <a:rPr lang="en-US" sz="2000" dirty="0" err="1" smtClean="0"/>
              <a:t>cnt</a:t>
            </a:r>
            <a:r>
              <a:rPr lang="en-US" sz="2000" dirty="0" smtClean="0"/>
              <a:t>. </a:t>
            </a:r>
            <a:r>
              <a:rPr lang="en-US" sz="2000" dirty="0"/>
              <a:t>By merging them, I got all the details in one row.</a:t>
            </a:r>
            <a:endParaRPr lang="en-US" sz="2000" dirty="0" smtClean="0"/>
          </a:p>
          <a:p>
            <a:pPr marL="0" indent="0">
              <a:buNone/>
            </a:pPr>
            <a:endParaRPr lang="en-US" sz="2000" dirty="0" smtClean="0"/>
          </a:p>
          <a:p>
            <a:endParaRPr lang="en-US" sz="2000" dirty="0"/>
          </a:p>
          <a:p>
            <a:endParaRPr lang="en-IN" sz="2000" dirty="0"/>
          </a:p>
        </p:txBody>
      </p:sp>
    </p:spTree>
    <p:extLst>
      <p:ext uri="{BB962C8B-B14F-4D97-AF65-F5344CB8AC3E}">
        <p14:creationId xmlns:p14="http://schemas.microsoft.com/office/powerpoint/2010/main" val="26230578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a:t>And accordingly I have formatted, cleaned and organized the columns in dataset-A, similar to Dataset-1 and Dataset-2.</a:t>
            </a:r>
          </a:p>
          <a:p>
            <a:r>
              <a:rPr lang="en-US" dirty="0" smtClean="0"/>
              <a:t>I </a:t>
            </a:r>
            <a:r>
              <a:rPr lang="en-US" dirty="0"/>
              <a:t>have checked for missing values, wrong values, </a:t>
            </a:r>
            <a:r>
              <a:rPr lang="en-US" dirty="0" smtClean="0"/>
              <a:t>and </a:t>
            </a:r>
            <a:r>
              <a:rPr lang="en-US" dirty="0"/>
              <a:t>duplicate </a:t>
            </a:r>
            <a:r>
              <a:rPr lang="en-US" dirty="0" smtClean="0"/>
              <a:t>data or inconsistent data. Have </a:t>
            </a:r>
            <a:r>
              <a:rPr lang="en-US" dirty="0"/>
              <a:t>bolded the headers, applied </a:t>
            </a:r>
            <a:r>
              <a:rPr lang="en-US" dirty="0" smtClean="0"/>
              <a:t>filters and </a:t>
            </a:r>
            <a:r>
              <a:rPr lang="en-US" dirty="0"/>
              <a:t>made sure columns have correct </a:t>
            </a:r>
            <a:r>
              <a:rPr lang="en-US" dirty="0" smtClean="0"/>
              <a:t>format</a:t>
            </a:r>
            <a:r>
              <a:rPr lang="en-US" dirty="0"/>
              <a:t> </a:t>
            </a:r>
            <a:r>
              <a:rPr lang="en-US" dirty="0" smtClean="0"/>
              <a:t>as the original datasets.</a:t>
            </a:r>
          </a:p>
          <a:p>
            <a:r>
              <a:rPr lang="en-US" dirty="0" smtClean="0"/>
              <a:t>I have also crosschecked the sum of </a:t>
            </a:r>
            <a:r>
              <a:rPr lang="en-US" dirty="0" err="1" smtClean="0"/>
              <a:t>cnt</a:t>
            </a:r>
            <a:r>
              <a:rPr lang="en-US" dirty="0" smtClean="0"/>
              <a:t> using the SUM formula, if it matched the sum from dataset-2.</a:t>
            </a:r>
          </a:p>
          <a:p>
            <a:r>
              <a:rPr lang="en-US" dirty="0" smtClean="0"/>
              <a:t>Once </a:t>
            </a:r>
            <a:r>
              <a:rPr lang="en-US" dirty="0"/>
              <a:t>the data is cleaned and organized, I have created pivot table and pivot chart to summarize, analyze and visualize the data quickly and easily. </a:t>
            </a:r>
            <a:endParaRPr lang="en-US" dirty="0" smtClean="0"/>
          </a:p>
          <a:p>
            <a:r>
              <a:rPr lang="en-US" dirty="0" smtClean="0"/>
              <a:t>The </a:t>
            </a:r>
            <a:r>
              <a:rPr lang="en-US" dirty="0"/>
              <a:t>tables that were created contains variables like </a:t>
            </a:r>
            <a:r>
              <a:rPr lang="en-US" dirty="0" err="1" smtClean="0"/>
              <a:t>windspeed</a:t>
            </a:r>
            <a:r>
              <a:rPr lang="en-US" dirty="0" smtClean="0"/>
              <a:t> vs rentals </a:t>
            </a:r>
            <a:r>
              <a:rPr lang="en-US" dirty="0" err="1" smtClean="0"/>
              <a:t>atemp</a:t>
            </a:r>
            <a:r>
              <a:rPr lang="en-US" dirty="0" smtClean="0"/>
              <a:t> vs temp. </a:t>
            </a:r>
            <a:endParaRPr lang="en-US" dirty="0"/>
          </a:p>
          <a:p>
            <a:endParaRPr lang="en-US" dirty="0" smtClean="0"/>
          </a:p>
          <a:p>
            <a:endParaRPr lang="en-US" dirty="0" smtClean="0"/>
          </a:p>
          <a:p>
            <a:endParaRPr lang="en-US" dirty="0" smtClean="0"/>
          </a:p>
          <a:p>
            <a:endParaRPr lang="en-IN" dirty="0"/>
          </a:p>
        </p:txBody>
      </p:sp>
    </p:spTree>
    <p:extLst>
      <p:ext uri="{BB962C8B-B14F-4D97-AF65-F5344CB8AC3E}">
        <p14:creationId xmlns:p14="http://schemas.microsoft.com/office/powerpoint/2010/main" val="2961980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1196" cy="1303867"/>
          </a:xfrm>
        </p:spPr>
        <p:txBody>
          <a:bodyPr/>
          <a:lstStyle/>
          <a:p>
            <a:r>
              <a:rPr lang="en-US" dirty="0" smtClean="0"/>
              <a:t>DATASET-FINAL</a:t>
            </a:r>
            <a:endParaRPr lang="en-IN" dirty="0"/>
          </a:p>
        </p:txBody>
      </p:sp>
      <p:sp>
        <p:nvSpPr>
          <p:cNvPr id="3" name="Content Placeholder 2"/>
          <p:cNvSpPr>
            <a:spLocks noGrp="1"/>
          </p:cNvSpPr>
          <p:nvPr>
            <p:ph idx="1"/>
          </p:nvPr>
        </p:nvSpPr>
        <p:spPr>
          <a:xfrm>
            <a:off x="1295401" y="2469845"/>
            <a:ext cx="9601196" cy="3735012"/>
          </a:xfrm>
        </p:spPr>
        <p:txBody>
          <a:bodyPr>
            <a:noAutofit/>
          </a:bodyPr>
          <a:lstStyle/>
          <a:p>
            <a:r>
              <a:rPr lang="en-US" sz="2000" dirty="0" smtClean="0"/>
              <a:t>After merging Dataset-1 and Dataset-2 to create Dataset-A, Dataset- FINAL was created by merging Dataset-A and Dataset-3. Dataset-Final had all the relevant data from separate datasets, i.e</a:t>
            </a:r>
            <a:r>
              <a:rPr lang="en-US" sz="2000" dirty="0" smtClean="0"/>
              <a:t>., Dataset-1, Dataset-2, Dataset-3, containing different variables and extra rows.</a:t>
            </a:r>
            <a:endParaRPr lang="en-US" sz="2000" dirty="0" smtClean="0"/>
          </a:p>
          <a:p>
            <a:r>
              <a:rPr lang="en-US" sz="2000" dirty="0" smtClean="0"/>
              <a:t>By merging </a:t>
            </a:r>
            <a:r>
              <a:rPr lang="en-US" sz="2000" dirty="0" smtClean="0"/>
              <a:t>these data, </a:t>
            </a:r>
            <a:r>
              <a:rPr lang="en-US" sz="2000" dirty="0"/>
              <a:t>I</a:t>
            </a:r>
            <a:r>
              <a:rPr lang="en-US" sz="2000" dirty="0" smtClean="0"/>
              <a:t> got the complete information of the bike rentals records from all the data sheet which helped to perform statistical analysis, identify patterns and trends and to maintain consistent and accurate data.</a:t>
            </a:r>
          </a:p>
          <a:p>
            <a:r>
              <a:rPr lang="en-US" sz="2000" dirty="0" smtClean="0"/>
              <a:t>In Dataset-FINAL, along with the columns </a:t>
            </a:r>
            <a:r>
              <a:rPr lang="en-US" sz="2000" dirty="0"/>
              <a:t>like- </a:t>
            </a:r>
            <a:r>
              <a:rPr lang="en-US" sz="2000" dirty="0" smtClean="0"/>
              <a:t>instant, </a:t>
            </a:r>
            <a:r>
              <a:rPr lang="en-US" sz="2000" dirty="0" err="1" smtClean="0"/>
              <a:t>dteday</a:t>
            </a:r>
            <a:r>
              <a:rPr lang="en-US" sz="2000" dirty="0" smtClean="0"/>
              <a:t>, month, </a:t>
            </a:r>
            <a:r>
              <a:rPr lang="en-US" sz="2000" dirty="0" err="1" smtClean="0"/>
              <a:t>hr</a:t>
            </a:r>
            <a:r>
              <a:rPr lang="en-US" sz="2000" dirty="0" smtClean="0"/>
              <a:t>, holiday, weekday, Days, </a:t>
            </a:r>
            <a:r>
              <a:rPr lang="en-US" sz="2000" dirty="0" err="1" smtClean="0"/>
              <a:t>weathersit</a:t>
            </a:r>
            <a:r>
              <a:rPr lang="en-US" sz="2000" dirty="0" smtClean="0"/>
              <a:t>, Weather, temp, </a:t>
            </a:r>
            <a:r>
              <a:rPr lang="en-US" sz="2000" dirty="0" err="1" smtClean="0"/>
              <a:t>atemp</a:t>
            </a:r>
            <a:r>
              <a:rPr lang="en-US" sz="2000" dirty="0" smtClean="0"/>
              <a:t>, hum, </a:t>
            </a:r>
            <a:r>
              <a:rPr lang="en-US" sz="2000" dirty="0" err="1" smtClean="0"/>
              <a:t>windspeed</a:t>
            </a:r>
            <a:r>
              <a:rPr lang="en-US" sz="2000" dirty="0" smtClean="0"/>
              <a:t>, casual, registered, </a:t>
            </a:r>
            <a:r>
              <a:rPr lang="en-US" sz="2000" dirty="0" err="1" smtClean="0"/>
              <a:t>cnt</a:t>
            </a:r>
            <a:r>
              <a:rPr lang="en-US" sz="2000" dirty="0" smtClean="0"/>
              <a:t>. I have added few more columns for interpreting the analysis easier like classification, correct count and demand rate. </a:t>
            </a:r>
            <a:endParaRPr lang="en-US" sz="2000" dirty="0" smtClean="0"/>
          </a:p>
          <a:p>
            <a:endParaRPr lang="en-US" sz="2000" dirty="0"/>
          </a:p>
          <a:p>
            <a:endParaRPr lang="en-IN" sz="2000" dirty="0"/>
          </a:p>
        </p:txBody>
      </p:sp>
    </p:spTree>
    <p:extLst>
      <p:ext uri="{BB962C8B-B14F-4D97-AF65-F5344CB8AC3E}">
        <p14:creationId xmlns:p14="http://schemas.microsoft.com/office/powerpoint/2010/main" val="33697366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fontScale="92500" lnSpcReduction="1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t>I have copied the rows from Dataset-3 and pasted with the copy of Dataset-A sheet, to create Dataset-Final. </a:t>
            </a:r>
            <a:endParaRPr lang="en-US" dirty="0"/>
          </a:p>
          <a:p>
            <a:r>
              <a:rPr lang="en-US" dirty="0" smtClean="0"/>
              <a:t>After this, I </a:t>
            </a:r>
            <a:r>
              <a:rPr lang="en-US" dirty="0"/>
              <a:t>have checked for missing values, wrong values, </a:t>
            </a:r>
            <a:r>
              <a:rPr lang="en-US" dirty="0" smtClean="0"/>
              <a:t>and </a:t>
            </a:r>
            <a:r>
              <a:rPr lang="en-US" dirty="0"/>
              <a:t>duplicate </a:t>
            </a:r>
            <a:r>
              <a:rPr lang="en-US" dirty="0" smtClean="0"/>
              <a:t>data, blanks and inconsistent data. Have </a:t>
            </a:r>
            <a:r>
              <a:rPr lang="en-US" dirty="0"/>
              <a:t>bolded the headers, applied </a:t>
            </a:r>
            <a:r>
              <a:rPr lang="en-US" dirty="0" smtClean="0"/>
              <a:t>filters and </a:t>
            </a:r>
            <a:r>
              <a:rPr lang="en-US" dirty="0"/>
              <a:t>made sure columns have correct </a:t>
            </a:r>
            <a:r>
              <a:rPr lang="en-US" dirty="0" smtClean="0"/>
              <a:t>format</a:t>
            </a:r>
            <a:r>
              <a:rPr lang="en-US" dirty="0"/>
              <a:t> </a:t>
            </a:r>
            <a:r>
              <a:rPr lang="en-US" dirty="0" smtClean="0"/>
              <a:t>as the original datasets.</a:t>
            </a:r>
          </a:p>
          <a:p>
            <a:r>
              <a:rPr lang="en-US" dirty="0" smtClean="0"/>
              <a:t>Here to the columns like demand rate and classification, I have used the IF formula to extract the details. </a:t>
            </a:r>
            <a:r>
              <a:rPr lang="en-US" dirty="0"/>
              <a:t>(E.g., =IF(OR(G1001="Saturday", G1001="Sunday"), "Weekend", "Weekday</a:t>
            </a:r>
            <a:r>
              <a:rPr lang="en-US" dirty="0" smtClean="0"/>
              <a:t>") </a:t>
            </a:r>
            <a:r>
              <a:rPr lang="en-US" dirty="0"/>
              <a:t>and =IF(Q997&gt;100, "High Demand", "Low Demand</a:t>
            </a:r>
            <a:r>
              <a:rPr lang="en-US" dirty="0" smtClean="0"/>
              <a:t>")) to know whether the holiday is weekday or weekend and if the demand for bike rentals is high or low.</a:t>
            </a:r>
            <a:endParaRPr lang="en-US" dirty="0" smtClean="0"/>
          </a:p>
          <a:p>
            <a:r>
              <a:rPr lang="en-US" dirty="0" smtClean="0"/>
              <a:t>Once </a:t>
            </a:r>
            <a:r>
              <a:rPr lang="en-US" dirty="0"/>
              <a:t>the data is cleaned and organized, I have created pivot table and pivot chart to summarize, analyze and visualize the data quickly and easily. </a:t>
            </a:r>
            <a:endParaRPr lang="en-US" dirty="0" smtClean="0"/>
          </a:p>
          <a:p>
            <a:r>
              <a:rPr lang="en-US" dirty="0" smtClean="0"/>
              <a:t>The tables that were created contains variables like- </a:t>
            </a:r>
            <a:endParaRPr lang="en-US" dirty="0" smtClean="0"/>
          </a:p>
          <a:p>
            <a:endParaRPr lang="en-IN" dirty="0"/>
          </a:p>
        </p:txBody>
      </p:sp>
    </p:spTree>
    <p:extLst>
      <p:ext uri="{BB962C8B-B14F-4D97-AF65-F5344CB8AC3E}">
        <p14:creationId xmlns:p14="http://schemas.microsoft.com/office/powerpoint/2010/main" val="1856566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a:t>Time vs </a:t>
            </a:r>
            <a:r>
              <a:rPr lang="en-US" dirty="0" err="1" smtClean="0"/>
              <a:t>cnt</a:t>
            </a:r>
            <a:r>
              <a:rPr lang="en-US" dirty="0" smtClean="0"/>
              <a:t>- Shows </a:t>
            </a:r>
            <a:r>
              <a:rPr lang="en-US" dirty="0"/>
              <a:t>how bike rentals change over </a:t>
            </a:r>
            <a:r>
              <a:rPr lang="en-US" dirty="0" smtClean="0"/>
              <a:t>time, helps </a:t>
            </a:r>
            <a:r>
              <a:rPr lang="en-US" dirty="0"/>
              <a:t>identify peak rental hours during the day</a:t>
            </a:r>
            <a:r>
              <a:rPr lang="en-US" dirty="0" smtClean="0"/>
              <a:t>.</a:t>
            </a:r>
          </a:p>
          <a:p>
            <a:r>
              <a:rPr lang="en-US" dirty="0" smtClean="0"/>
              <a:t>Weather </a:t>
            </a:r>
            <a:r>
              <a:rPr lang="en-US" dirty="0"/>
              <a:t>vs </a:t>
            </a:r>
            <a:r>
              <a:rPr lang="en-US" dirty="0" err="1" smtClean="0"/>
              <a:t>cnt</a:t>
            </a:r>
            <a:r>
              <a:rPr lang="en-US" dirty="0" smtClean="0"/>
              <a:t>- Analyzes </a:t>
            </a:r>
            <a:r>
              <a:rPr lang="en-US" dirty="0"/>
              <a:t>how weather conditions affect bike </a:t>
            </a:r>
            <a:r>
              <a:rPr lang="en-US" dirty="0" smtClean="0"/>
              <a:t>usage and helps </a:t>
            </a:r>
            <a:r>
              <a:rPr lang="en-US" dirty="0"/>
              <a:t>understand whether people rent more bikes during </a:t>
            </a:r>
            <a:r>
              <a:rPr lang="en-US" dirty="0" smtClean="0"/>
              <a:t>cloudy </a:t>
            </a:r>
            <a:r>
              <a:rPr lang="en-US" dirty="0"/>
              <a:t>or </a:t>
            </a:r>
            <a:r>
              <a:rPr lang="en-US" dirty="0" smtClean="0"/>
              <a:t>extreme </a:t>
            </a:r>
            <a:r>
              <a:rPr lang="en-US" dirty="0"/>
              <a:t>weather</a:t>
            </a:r>
            <a:r>
              <a:rPr lang="en-US" dirty="0" smtClean="0"/>
              <a:t>.</a:t>
            </a:r>
          </a:p>
          <a:p>
            <a:r>
              <a:rPr lang="en-US" dirty="0" err="1" smtClean="0"/>
              <a:t>Usertype</a:t>
            </a:r>
            <a:r>
              <a:rPr lang="en-US" dirty="0" smtClean="0"/>
              <a:t> </a:t>
            </a:r>
            <a:r>
              <a:rPr lang="en-US" dirty="0"/>
              <a:t>(Casual vs </a:t>
            </a:r>
            <a:r>
              <a:rPr lang="en-US" dirty="0" smtClean="0"/>
              <a:t>Registered)- This helps </a:t>
            </a:r>
            <a:r>
              <a:rPr lang="en-US" dirty="0"/>
              <a:t>understand who uses the </a:t>
            </a:r>
            <a:r>
              <a:rPr lang="en-US" dirty="0" smtClean="0"/>
              <a:t>bikes more.</a:t>
            </a:r>
          </a:p>
          <a:p>
            <a:r>
              <a:rPr lang="en-US" dirty="0" smtClean="0"/>
              <a:t>Hour </a:t>
            </a:r>
            <a:r>
              <a:rPr lang="en-US" dirty="0"/>
              <a:t>vs </a:t>
            </a:r>
            <a:r>
              <a:rPr lang="en-US" dirty="0" err="1" smtClean="0"/>
              <a:t>Usertype</a:t>
            </a:r>
            <a:r>
              <a:rPr lang="en-US" dirty="0" smtClean="0"/>
              <a:t>- Shows </a:t>
            </a:r>
            <a:r>
              <a:rPr lang="en-US" dirty="0"/>
              <a:t>when casual and registered users rent bikes</a:t>
            </a:r>
            <a:r>
              <a:rPr lang="en-US" dirty="0" smtClean="0"/>
              <a:t>. </a:t>
            </a:r>
          </a:p>
          <a:p>
            <a:r>
              <a:rPr lang="en-US" dirty="0"/>
              <a:t>Bike Rentals by </a:t>
            </a:r>
            <a:r>
              <a:rPr lang="en-US" dirty="0" smtClean="0"/>
              <a:t>Days- Shows </a:t>
            </a:r>
            <a:r>
              <a:rPr lang="en-US" dirty="0"/>
              <a:t>bike usage across different days of the </a:t>
            </a:r>
            <a:r>
              <a:rPr lang="en-US" dirty="0" smtClean="0"/>
              <a:t>week.</a:t>
            </a:r>
          </a:p>
          <a:p>
            <a:r>
              <a:rPr lang="en-US" dirty="0" smtClean="0"/>
              <a:t> </a:t>
            </a:r>
            <a:r>
              <a:rPr lang="en-US" dirty="0" err="1" smtClean="0"/>
              <a:t>Heatmap</a:t>
            </a:r>
            <a:r>
              <a:rPr lang="en-US" dirty="0" smtClean="0"/>
              <a:t> </a:t>
            </a:r>
            <a:r>
              <a:rPr lang="en-US" dirty="0"/>
              <a:t>(</a:t>
            </a:r>
            <a:r>
              <a:rPr lang="en-US" dirty="0" err="1" smtClean="0"/>
              <a:t>Hr</a:t>
            </a:r>
            <a:r>
              <a:rPr lang="en-US" dirty="0" smtClean="0"/>
              <a:t> </a:t>
            </a:r>
            <a:r>
              <a:rPr lang="en-US" dirty="0"/>
              <a:t>by Days</a:t>
            </a:r>
            <a:r>
              <a:rPr lang="en-US" dirty="0" smtClean="0"/>
              <a:t>)- It shows high </a:t>
            </a:r>
            <a:r>
              <a:rPr lang="en-US" dirty="0"/>
              <a:t>demand times during the week</a:t>
            </a:r>
            <a:r>
              <a:rPr lang="en-US" dirty="0" smtClean="0"/>
              <a:t>. </a:t>
            </a:r>
            <a:endParaRPr lang="en-US" dirty="0" smtClean="0"/>
          </a:p>
          <a:p>
            <a:endParaRPr lang="en-IN" dirty="0"/>
          </a:p>
        </p:txBody>
      </p:sp>
    </p:spTree>
    <p:extLst>
      <p:ext uri="{BB962C8B-B14F-4D97-AF65-F5344CB8AC3E}">
        <p14:creationId xmlns:p14="http://schemas.microsoft.com/office/powerpoint/2010/main" val="29509095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lnSpcReduction="1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a:t>Rentals vs </a:t>
            </a:r>
            <a:r>
              <a:rPr lang="en-US" dirty="0" smtClean="0"/>
              <a:t>Hum- Shows </a:t>
            </a:r>
            <a:r>
              <a:rPr lang="en-US" dirty="0"/>
              <a:t>whether high humidity affects bike rentals</a:t>
            </a:r>
            <a:r>
              <a:rPr lang="en-US" dirty="0" smtClean="0"/>
              <a:t>. </a:t>
            </a:r>
          </a:p>
          <a:p>
            <a:r>
              <a:rPr lang="en-US" dirty="0" smtClean="0"/>
              <a:t>Rentals </a:t>
            </a:r>
            <a:r>
              <a:rPr lang="en-US" dirty="0"/>
              <a:t>vs </a:t>
            </a:r>
            <a:r>
              <a:rPr lang="en-US" dirty="0" err="1" smtClean="0"/>
              <a:t>Windspeed</a:t>
            </a:r>
            <a:r>
              <a:rPr lang="en-US" dirty="0" smtClean="0"/>
              <a:t>- Analyzes </a:t>
            </a:r>
            <a:r>
              <a:rPr lang="en-US" dirty="0"/>
              <a:t>if strong winds reduce bike usage</a:t>
            </a:r>
            <a:r>
              <a:rPr lang="en-US" dirty="0" smtClean="0"/>
              <a:t>.</a:t>
            </a:r>
          </a:p>
          <a:p>
            <a:r>
              <a:rPr lang="en-US" dirty="0"/>
              <a:t>Weather vs </a:t>
            </a:r>
            <a:r>
              <a:rPr lang="en-US" dirty="0" err="1" smtClean="0"/>
              <a:t>Hr</a:t>
            </a:r>
            <a:r>
              <a:rPr lang="en-US" dirty="0" smtClean="0"/>
              <a:t>- Helps </a:t>
            </a:r>
            <a:r>
              <a:rPr lang="en-US" dirty="0"/>
              <a:t>understand how weather conditions influence hourly rentals</a:t>
            </a:r>
            <a:r>
              <a:rPr lang="en-US" dirty="0" smtClean="0"/>
              <a:t>.</a:t>
            </a:r>
          </a:p>
          <a:p>
            <a:r>
              <a:rPr lang="en-US" dirty="0" smtClean="0"/>
              <a:t>Days </a:t>
            </a:r>
            <a:r>
              <a:rPr lang="en-US" dirty="0"/>
              <a:t>vs Registered </a:t>
            </a:r>
            <a:r>
              <a:rPr lang="en-US" dirty="0" smtClean="0"/>
              <a:t>Users- Shows </a:t>
            </a:r>
            <a:r>
              <a:rPr lang="en-US" dirty="0"/>
              <a:t>which days registered users ride the most</a:t>
            </a:r>
            <a:r>
              <a:rPr lang="en-US" dirty="0" smtClean="0"/>
              <a:t>. It helps understand the </a:t>
            </a:r>
            <a:r>
              <a:rPr lang="en-US" dirty="0"/>
              <a:t>daily commuting patterns</a:t>
            </a:r>
            <a:r>
              <a:rPr lang="en-US" dirty="0" smtClean="0"/>
              <a:t>.</a:t>
            </a:r>
          </a:p>
          <a:p>
            <a:endParaRPr lang="en-US" dirty="0"/>
          </a:p>
          <a:p>
            <a:r>
              <a:rPr lang="en-US" dirty="0" smtClean="0"/>
              <a:t>I have also grouped and aggregated the data to simplify the data which helped to get clear summary, to understand, for e.g., weather impact on bike usage. </a:t>
            </a:r>
          </a:p>
          <a:p>
            <a:r>
              <a:rPr lang="en-US" dirty="0" smtClean="0"/>
              <a:t>Functions like COUNTIF were used to count how many time the non-holidays occur, weather condition etc., </a:t>
            </a:r>
            <a:endParaRPr lang="en-US" dirty="0"/>
          </a:p>
          <a:p>
            <a:endParaRPr lang="en-US" dirty="0" smtClean="0"/>
          </a:p>
          <a:p>
            <a:endParaRPr lang="en-US" dirty="0" smtClean="0"/>
          </a:p>
          <a:p>
            <a:endParaRPr lang="en-IN" dirty="0"/>
          </a:p>
        </p:txBody>
      </p:sp>
    </p:spTree>
    <p:extLst>
      <p:ext uri="{BB962C8B-B14F-4D97-AF65-F5344CB8AC3E}">
        <p14:creationId xmlns:p14="http://schemas.microsoft.com/office/powerpoint/2010/main" val="9338713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t>SUMIF to add values based on days, </a:t>
            </a:r>
            <a:r>
              <a:rPr lang="en-US" dirty="0" err="1" smtClean="0"/>
              <a:t>hr</a:t>
            </a:r>
            <a:r>
              <a:rPr lang="en-US" dirty="0" smtClean="0"/>
              <a:t> and temp.</a:t>
            </a:r>
          </a:p>
          <a:p>
            <a:r>
              <a:rPr lang="en-US" dirty="0" smtClean="0"/>
              <a:t>STDEV function was applied to measure how the rental data varied with hum, </a:t>
            </a:r>
            <a:r>
              <a:rPr lang="en-US" dirty="0" err="1" smtClean="0"/>
              <a:t>windspeed</a:t>
            </a:r>
            <a:r>
              <a:rPr lang="en-US" dirty="0" smtClean="0"/>
              <a:t>, etc.</a:t>
            </a:r>
          </a:p>
          <a:p>
            <a:r>
              <a:rPr lang="en-US" dirty="0" smtClean="0"/>
              <a:t>And CORREL which is used to find the relationship between two variables was applied to check how temp, time, or </a:t>
            </a:r>
            <a:r>
              <a:rPr lang="en-US" dirty="0" err="1" smtClean="0"/>
              <a:t>windspeed</a:t>
            </a:r>
            <a:r>
              <a:rPr lang="en-US" dirty="0" smtClean="0"/>
              <a:t> affected the bike rentals.  </a:t>
            </a:r>
            <a:endParaRPr lang="en-US" dirty="0" smtClean="0"/>
          </a:p>
          <a:p>
            <a:r>
              <a:rPr lang="en-US" dirty="0" smtClean="0"/>
              <a:t>A interactive dashboard was created by combining all the Pivot Charts that was created </a:t>
            </a:r>
            <a:r>
              <a:rPr lang="en-US" dirty="0"/>
              <a:t>in Dataset-FINAL, like, </a:t>
            </a:r>
            <a:r>
              <a:rPr lang="en-US" dirty="0" smtClean="0"/>
              <a:t>line </a:t>
            </a:r>
            <a:r>
              <a:rPr lang="en-US" dirty="0"/>
              <a:t>charts, column charts, pie charts, </a:t>
            </a:r>
            <a:r>
              <a:rPr lang="en-US" dirty="0" err="1" smtClean="0"/>
              <a:t>heatmaps</a:t>
            </a:r>
            <a:r>
              <a:rPr lang="en-US" dirty="0" smtClean="0"/>
              <a:t>. It was created to make the visualization easy and highlight the important patterns in Bike Sharing Demand Analysis. </a:t>
            </a:r>
          </a:p>
          <a:p>
            <a:r>
              <a:rPr lang="en-US" dirty="0" smtClean="0"/>
              <a:t>I have added slicers to days, </a:t>
            </a:r>
            <a:r>
              <a:rPr lang="en-US" dirty="0" err="1" smtClean="0"/>
              <a:t>windspeed</a:t>
            </a:r>
            <a:r>
              <a:rPr lang="en-US" dirty="0" smtClean="0"/>
              <a:t>, </a:t>
            </a:r>
            <a:r>
              <a:rPr lang="en-US" dirty="0" err="1" smtClean="0"/>
              <a:t>hr</a:t>
            </a:r>
            <a:r>
              <a:rPr lang="en-US" dirty="0" smtClean="0"/>
              <a:t>, hum, temp, weather and timeline to allow the dynamic filtering of the data.  </a:t>
            </a:r>
            <a:endParaRPr lang="en-US" dirty="0" smtClean="0"/>
          </a:p>
          <a:p>
            <a:endParaRPr lang="en-IN" dirty="0"/>
          </a:p>
        </p:txBody>
      </p:sp>
    </p:spTree>
    <p:extLst>
      <p:ext uri="{BB962C8B-B14F-4D97-AF65-F5344CB8AC3E}">
        <p14:creationId xmlns:p14="http://schemas.microsoft.com/office/powerpoint/2010/main" val="21120929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883244" y="1363980"/>
            <a:ext cx="10040503" cy="4742980"/>
          </a:xfrm>
          <a:prstGeom prst="rect">
            <a:avLst/>
          </a:prstGeom>
        </p:spPr>
      </p:pic>
      <p:sp>
        <p:nvSpPr>
          <p:cNvPr id="4" name="TextBox 3"/>
          <p:cNvSpPr txBox="1"/>
          <p:nvPr/>
        </p:nvSpPr>
        <p:spPr>
          <a:xfrm>
            <a:off x="4004733" y="855133"/>
            <a:ext cx="3970867" cy="369332"/>
          </a:xfrm>
          <a:prstGeom prst="rect">
            <a:avLst/>
          </a:prstGeom>
          <a:noFill/>
        </p:spPr>
        <p:txBody>
          <a:bodyPr wrap="square" rtlCol="0">
            <a:spAutoFit/>
          </a:bodyPr>
          <a:lstStyle/>
          <a:p>
            <a:r>
              <a:rPr lang="en-US" dirty="0" smtClean="0"/>
              <a:t>Overall Image of the Dynamic Dashboard</a:t>
            </a:r>
            <a:endParaRPr lang="en-IN" dirty="0"/>
          </a:p>
        </p:txBody>
      </p:sp>
    </p:spTree>
    <p:extLst>
      <p:ext uri="{BB962C8B-B14F-4D97-AF65-F5344CB8AC3E}">
        <p14:creationId xmlns:p14="http://schemas.microsoft.com/office/powerpoint/2010/main" val="10136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p:cNvSpPr txBox="1">
            <a:spLocks/>
          </p:cNvSpPr>
          <p:nvPr/>
        </p:nvSpPr>
        <p:spPr>
          <a:xfrm>
            <a:off x="1295401" y="783771"/>
            <a:ext cx="9601196" cy="5092097"/>
          </a:xfrm>
          <a:prstGeom prst="rect">
            <a:avLst/>
          </a:prstGeom>
        </p:spPr>
        <p:txBody>
          <a:bodyPr>
            <a:normAutofit fontScale="92500" lnSpcReduction="20000"/>
          </a:bodyPr>
          <a:lst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a:lstStyle>
          <a:p>
            <a:r>
              <a:rPr lang="en-US" dirty="0" smtClean="0"/>
              <a:t>In the end advanced tools like Forecast sheet was created to analyze the dataset along with Anomaly Detection, which helped to identify the future trend in bike rentals and detect the unusual patterns. </a:t>
            </a:r>
          </a:p>
          <a:p>
            <a:endParaRPr lang="en-US" dirty="0"/>
          </a:p>
          <a:p>
            <a:endParaRPr lang="en-US" dirty="0" smtClean="0"/>
          </a:p>
          <a:p>
            <a:endParaRPr lang="en-US" dirty="0"/>
          </a:p>
          <a:p>
            <a:endParaRPr lang="en-US" dirty="0" smtClean="0"/>
          </a:p>
          <a:p>
            <a:endParaRPr lang="en-US" dirty="0"/>
          </a:p>
          <a:p>
            <a:endParaRPr lang="en-US" dirty="0" smtClean="0"/>
          </a:p>
          <a:p>
            <a:r>
              <a:rPr lang="en-US" dirty="0" smtClean="0"/>
              <a:t>From the graph, we can say that, there is consistent rental demand without major increase or decrease. </a:t>
            </a:r>
          </a:p>
          <a:p>
            <a:r>
              <a:rPr lang="en-US" dirty="0" smtClean="0"/>
              <a:t>By this analysis we can say </a:t>
            </a:r>
            <a:r>
              <a:rPr lang="en-US" dirty="0"/>
              <a:t>that bike demand is relatively stable but influenced by </a:t>
            </a:r>
            <a:r>
              <a:rPr lang="en-US" dirty="0" smtClean="0"/>
              <a:t>variables like weather</a:t>
            </a:r>
            <a:r>
              <a:rPr lang="en-US" dirty="0"/>
              <a:t>, </a:t>
            </a:r>
            <a:r>
              <a:rPr lang="en-US" dirty="0" smtClean="0"/>
              <a:t>days, temp, etc., </a:t>
            </a:r>
            <a:r>
              <a:rPr lang="en-US" dirty="0"/>
              <a:t>Registered users drive most of the demand, while </a:t>
            </a:r>
            <a:r>
              <a:rPr lang="en-US"/>
              <a:t>casual </a:t>
            </a:r>
            <a:r>
              <a:rPr lang="en-US" smtClean="0"/>
              <a:t>users </a:t>
            </a:r>
            <a:r>
              <a:rPr lang="en-US" dirty="0"/>
              <a:t>increases during favorable conditions.</a:t>
            </a:r>
            <a:endParaRPr lang="en-US" dirty="0" smtClean="0"/>
          </a:p>
          <a:p>
            <a:endParaRPr lang="en-IN" dirty="0"/>
          </a:p>
        </p:txBody>
      </p:sp>
      <p:graphicFrame>
        <p:nvGraphicFramePr>
          <p:cNvPr id="3" name="Chart 2"/>
          <p:cNvGraphicFramePr>
            <a:graphicFrameLocks/>
          </p:cNvGraphicFramePr>
          <p:nvPr>
            <p:extLst>
              <p:ext uri="{D42A27DB-BD31-4B8C-83A1-F6EECF244321}">
                <p14:modId xmlns:p14="http://schemas.microsoft.com/office/powerpoint/2010/main" val="1714429768"/>
              </p:ext>
            </p:extLst>
          </p:nvPr>
        </p:nvGraphicFramePr>
        <p:xfrm>
          <a:off x="1537034" y="1713500"/>
          <a:ext cx="5681451" cy="2199077"/>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347165267"/>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362</TotalTime>
  <Words>1641</Words>
  <Application>Microsoft Office PowerPoint</Application>
  <PresentationFormat>Widescreen</PresentationFormat>
  <Paragraphs>117</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Garamond</vt:lpstr>
      <vt:lpstr>Organic</vt:lpstr>
      <vt:lpstr>Bike Sharing Demand Analysis</vt:lpstr>
      <vt:lpstr>Project Tasks </vt:lpstr>
      <vt:lpstr>DATASET-1</vt:lpstr>
      <vt:lpstr>PowerPoint Presentation</vt:lpstr>
      <vt:lpstr>PowerPoint Presentation</vt:lpstr>
      <vt:lpstr>DATASET-2</vt:lpstr>
      <vt:lpstr>PowerPoint Presentation</vt:lpstr>
      <vt:lpstr>PowerPoint Presentation</vt:lpstr>
      <vt:lpstr>DATASET-3</vt:lpstr>
      <vt:lpstr>PowerPoint Presentation</vt:lpstr>
      <vt:lpstr>PowerPoint Presentation</vt:lpstr>
      <vt:lpstr>DATASET-A</vt:lpstr>
      <vt:lpstr>PowerPoint Presentation</vt:lpstr>
      <vt:lpstr>DATASET-FINAL</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Bike Sharing Demand Analysis</dc:title>
  <dc:creator>priyanka kale</dc:creator>
  <cp:lastModifiedBy>priyanka kale</cp:lastModifiedBy>
  <cp:revision>52</cp:revision>
  <dcterms:created xsi:type="dcterms:W3CDTF">2026-03-24T14:00:33Z</dcterms:created>
  <dcterms:modified xsi:type="dcterms:W3CDTF">2026-03-25T08:04:51Z</dcterms:modified>
</cp:coreProperties>
</file>